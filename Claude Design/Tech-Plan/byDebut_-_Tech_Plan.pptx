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8658225" cy="50787300"/>
  <p:notesSz cx="50787300" cy="86582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" d="100"/>
          <a:sy n="15" d="100"/>
        </p:scale>
        <p:origin x="439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3165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7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66700" y="533400"/>
            <a:ext cx="266700" cy="266700"/>
          </a:xfrm>
          <a:prstGeom prst="roundRect">
            <a:avLst>
              <a:gd name="adj" fmla="val 28571"/>
            </a:avLst>
          </a:prstGeom>
          <a:gradFill rotWithShape="1">
            <a:gsLst>
              <a:gs pos="0">
                <a:srgbClr val="6D6BF6">
                  <a:alpha val="100000"/>
                </a:srgbClr>
              </a:gs>
              <a:gs pos="55000">
                <a:srgbClr val="A07BFF">
                  <a:alpha val="100000"/>
                </a:srgbClr>
              </a:gs>
              <a:gs pos="100000">
                <a:srgbClr val="56C5FF">
                  <a:alpha val="100000"/>
                </a:srgbClr>
              </a:gs>
            </a:gsLst>
            <a:lin ang="2700000" scaled="0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52425" y="619125"/>
            <a:ext cx="95250" cy="9525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38175" y="561975"/>
            <a:ext cx="748903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F3F2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</a:t>
            </a:r>
            <a:r>
              <a:rPr lang="en-US" sz="1425" i="1" dirty="0">
                <a:solidFill>
                  <a:srgbClr val="BCB9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Debut</a:t>
            </a:r>
            <a:endParaRPr lang="en-US" sz="1425" dirty="0"/>
          </a:p>
        </p:txBody>
      </p:sp>
      <p:sp>
        <p:nvSpPr>
          <p:cNvPr id="5" name="Text 3"/>
          <p:cNvSpPr/>
          <p:nvPr/>
        </p:nvSpPr>
        <p:spPr>
          <a:xfrm>
            <a:off x="6120259" y="600075"/>
            <a:ext cx="234123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88" kern="0" spc="126" dirty="0">
                <a:solidFill>
                  <a:srgbClr val="F3F2F8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TECHNICAL PLAN · SCHEMA · v1</a:t>
            </a:r>
            <a:endParaRPr lang="en-US" sz="788" dirty="0"/>
          </a:p>
        </p:txBody>
      </p:sp>
      <p:sp>
        <p:nvSpPr>
          <p:cNvPr id="6" name="Text 4"/>
          <p:cNvSpPr/>
          <p:nvPr/>
        </p:nvSpPr>
        <p:spPr>
          <a:xfrm>
            <a:off x="266700" y="1123950"/>
            <a:ext cx="878014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88" kern="0" spc="158" dirty="0">
                <a:solidFill>
                  <a:srgbClr val="C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ENGINEERING PLAN · 7 FROZEN FEATURES</a:t>
            </a:r>
            <a:endParaRPr lang="en-US" sz="788" dirty="0"/>
          </a:p>
        </p:txBody>
      </p:sp>
      <p:sp>
        <p:nvSpPr>
          <p:cNvPr id="7" name="Text 5"/>
          <p:cNvSpPr/>
          <p:nvPr/>
        </p:nvSpPr>
        <p:spPr>
          <a:xfrm>
            <a:off x="266700" y="1390650"/>
            <a:ext cx="7962900" cy="498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450" kern="0" spc="-86" dirty="0">
                <a:solidFill>
                  <a:srgbClr val="F3F2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byDebut gets built in one sprint</a:t>
            </a:r>
            <a:endParaRPr lang="en-US" sz="3450" dirty="0"/>
          </a:p>
        </p:txBody>
      </p:sp>
      <p:sp>
        <p:nvSpPr>
          <p:cNvPr id="8" name="Text 6"/>
          <p:cNvSpPr/>
          <p:nvPr/>
        </p:nvSpPr>
        <p:spPr>
          <a:xfrm>
            <a:off x="266700" y="2022128"/>
            <a:ext cx="6475095" cy="8149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275" dirty="0">
                <a:solidFill>
                  <a:srgbClr val="F3F2F8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implementation contract for the frozen MVP: stack, system flow, the full Postgres schema with row-level security, the one Edge Function that calls Gemini, realtime wiring, and the acceptance checks that say "done".</a:t>
            </a:r>
            <a:endParaRPr lang="en-US" sz="1275" dirty="0"/>
          </a:p>
        </p:txBody>
      </p:sp>
      <p:sp>
        <p:nvSpPr>
          <p:cNvPr id="9" name="Shape 7"/>
          <p:cNvSpPr/>
          <p:nvPr/>
        </p:nvSpPr>
        <p:spPr>
          <a:xfrm>
            <a:off x="266700" y="2970461"/>
            <a:ext cx="750689" cy="266700"/>
          </a:xfrm>
          <a:prstGeom prst="roundRect">
            <a:avLst>
              <a:gd name="adj" fmla="val 28571"/>
            </a:avLst>
          </a:prstGeom>
          <a:ln w="9525">
            <a:solidFill>
              <a:srgbClr val="46D3A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90525" y="3037136"/>
            <a:ext cx="57923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7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TABLES</a:t>
            </a:r>
            <a:endParaRPr lang="en-US" sz="825" dirty="0"/>
          </a:p>
        </p:txBody>
      </p:sp>
      <p:sp>
        <p:nvSpPr>
          <p:cNvPr id="11" name="Shape 9"/>
          <p:cNvSpPr/>
          <p:nvPr/>
        </p:nvSpPr>
        <p:spPr>
          <a:xfrm>
            <a:off x="1112639" y="2970461"/>
            <a:ext cx="1190625" cy="266700"/>
          </a:xfrm>
          <a:prstGeom prst="roundRect">
            <a:avLst>
              <a:gd name="adj" fmla="val 28571"/>
            </a:avLst>
          </a:prstGeom>
          <a:ln w="9525">
            <a:solidFill>
              <a:srgbClr val="A07B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236464" y="3037136"/>
            <a:ext cx="10191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C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EDGE FUNCTION</a:t>
            </a:r>
            <a:endParaRPr lang="en-US" sz="825" dirty="0"/>
          </a:p>
        </p:txBody>
      </p:sp>
      <p:sp>
        <p:nvSpPr>
          <p:cNvPr id="13" name="Shape 11"/>
          <p:cNvSpPr/>
          <p:nvPr/>
        </p:nvSpPr>
        <p:spPr>
          <a:xfrm>
            <a:off x="2398514" y="2970461"/>
            <a:ext cx="750689" cy="266700"/>
          </a:xfrm>
          <a:prstGeom prst="roundRect">
            <a:avLst>
              <a:gd name="adj" fmla="val 28571"/>
            </a:avLst>
          </a:prstGeom>
          <a:ln w="9525">
            <a:solidFill>
              <a:srgbClr val="56C5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522339" y="3037136"/>
            <a:ext cx="57923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AE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ROUTES</a:t>
            </a:r>
            <a:endParaRPr lang="en-US" sz="825" dirty="0"/>
          </a:p>
        </p:txBody>
      </p:sp>
      <p:sp>
        <p:nvSpPr>
          <p:cNvPr id="15" name="Shape 13"/>
          <p:cNvSpPr/>
          <p:nvPr/>
        </p:nvSpPr>
        <p:spPr>
          <a:xfrm>
            <a:off x="3244453" y="2970461"/>
            <a:ext cx="750689" cy="266700"/>
          </a:xfrm>
          <a:prstGeom prst="roundRect">
            <a:avLst>
              <a:gd name="adj" fmla="val 28571"/>
            </a:avLst>
          </a:prstGeom>
          <a:ln w="9525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368278" y="3037136"/>
            <a:ext cx="57923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3F2F8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REALTIME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266700" y="3770561"/>
            <a:ext cx="878014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88" kern="0" spc="158" dirty="0">
                <a:solidFill>
                  <a:srgbClr val="F3F2F8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STACK</a:t>
            </a:r>
            <a:endParaRPr lang="en-US" sz="788" dirty="0"/>
          </a:p>
        </p:txBody>
      </p:sp>
      <p:sp>
        <p:nvSpPr>
          <p:cNvPr id="18" name="Text 16"/>
          <p:cNvSpPr/>
          <p:nvPr/>
        </p:nvSpPr>
        <p:spPr>
          <a:xfrm>
            <a:off x="266700" y="3999161"/>
            <a:ext cx="878014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kern="0" spc="-45" dirty="0">
                <a:solidFill>
                  <a:srgbClr val="F3F2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Everything Google-native, nothing extra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266700" y="4494461"/>
            <a:ext cx="3924300" cy="1421011"/>
          </a:xfrm>
          <a:prstGeom prst="roundRect">
            <a:avLst>
              <a:gd name="adj" fmla="val 10054"/>
            </a:avLst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66700" y="5905946"/>
            <a:ext cx="39243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66700" y="4494461"/>
            <a:ext cx="39243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66700" y="4494461"/>
            <a:ext cx="28575" cy="1421011"/>
          </a:xfrm>
          <a:prstGeom prst="rect">
            <a:avLst/>
          </a:prstGeom>
          <a:solidFill>
            <a:srgbClr val="6D6B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181475" y="4494461"/>
            <a:ext cx="9525" cy="1421011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04825" y="4694486"/>
            <a:ext cx="381381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8" b="1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088" dirty="0"/>
          </a:p>
        </p:txBody>
      </p:sp>
      <p:sp>
        <p:nvSpPr>
          <p:cNvPr id="25" name="Text 23"/>
          <p:cNvSpPr/>
          <p:nvPr/>
        </p:nvSpPr>
        <p:spPr>
          <a:xfrm>
            <a:off x="504825" y="4923086"/>
            <a:ext cx="3571113" cy="830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975" dirty="0">
                <a:solidFill>
                  <a:srgbClr val="F3F2F8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 + TypeScript, built with Vite. Tailwind for layout, brand tokens inline. </a:t>
            </a:r>
            <a:r>
              <a:rPr lang="en-US" sz="975" dirty="0">
                <a:solidFill>
                  <a:srgbClr val="BCB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@supabase/supabase-js </a:t>
            </a:r>
            <a:r>
              <a:rPr lang="en-US" sz="975" dirty="0">
                <a:solidFill>
                  <a:srgbClr val="F3F2F8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data + auth + realtime. Hosted as a static bundle on Cloud Run / any CDN.</a:t>
            </a:r>
            <a:endParaRPr lang="en-US" sz="975" dirty="0"/>
          </a:p>
        </p:txBody>
      </p:sp>
      <p:sp>
        <p:nvSpPr>
          <p:cNvPr id="26" name="Shape 24"/>
          <p:cNvSpPr/>
          <p:nvPr/>
        </p:nvSpPr>
        <p:spPr>
          <a:xfrm>
            <a:off x="4324350" y="4494461"/>
            <a:ext cx="3924300" cy="1421011"/>
          </a:xfrm>
          <a:prstGeom prst="roundRect">
            <a:avLst>
              <a:gd name="adj" fmla="val 10054"/>
            </a:avLst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324350" y="5905946"/>
            <a:ext cx="39243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324350" y="4494461"/>
            <a:ext cx="39243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324350" y="4494461"/>
            <a:ext cx="28575" cy="1421011"/>
          </a:xfrm>
          <a:prstGeom prst="rect">
            <a:avLst/>
          </a:prstGeom>
          <a:solidFill>
            <a:srgbClr val="A07B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239125" y="4494461"/>
            <a:ext cx="9525" cy="1421011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562475" y="4694486"/>
            <a:ext cx="381381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8" b="1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· Supabase</a:t>
            </a:r>
            <a:endParaRPr lang="en-US" sz="1088" dirty="0"/>
          </a:p>
        </p:txBody>
      </p:sp>
      <p:sp>
        <p:nvSpPr>
          <p:cNvPr id="32" name="Text 30"/>
          <p:cNvSpPr/>
          <p:nvPr/>
        </p:nvSpPr>
        <p:spPr>
          <a:xfrm>
            <a:off x="4562475" y="4923086"/>
            <a:ext cx="3571113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975" dirty="0">
                <a:solidFill>
                  <a:srgbClr val="F3F2F8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 (data + RLS), Supabase Auth (magic-link), Realtime (tree, log, metrics), and one Deno Edge Function </a:t>
            </a:r>
            <a:r>
              <a:rPr lang="en-US" sz="975" dirty="0">
                <a:solidFill>
                  <a:srgbClr val="F0B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generate-version </a:t>
            </a:r>
            <a:r>
              <a:rPr lang="en-US" sz="975" dirty="0">
                <a:solidFill>
                  <a:srgbClr val="F3F2F8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owns the Gemini call.</a:t>
            </a:r>
            <a:endParaRPr lang="en-US" sz="975" dirty="0"/>
          </a:p>
        </p:txBody>
      </p:sp>
      <p:sp>
        <p:nvSpPr>
          <p:cNvPr id="33" name="Shape 31"/>
          <p:cNvSpPr/>
          <p:nvPr/>
        </p:nvSpPr>
        <p:spPr>
          <a:xfrm>
            <a:off x="266700" y="6048821"/>
            <a:ext cx="3924300" cy="1222921"/>
          </a:xfrm>
          <a:prstGeom prst="roundRect">
            <a:avLst>
              <a:gd name="adj" fmla="val 11683"/>
            </a:avLst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266700" y="7262217"/>
            <a:ext cx="39243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266700" y="6048821"/>
            <a:ext cx="39243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266700" y="6048821"/>
            <a:ext cx="28575" cy="1222921"/>
          </a:xfrm>
          <a:prstGeom prst="rect">
            <a:avLst/>
          </a:prstGeom>
          <a:solidFill>
            <a:srgbClr val="56C5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181475" y="6048821"/>
            <a:ext cx="9525" cy="1222921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04825" y="6248846"/>
            <a:ext cx="381381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8" b="1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· Gemini</a:t>
            </a:r>
            <a:endParaRPr lang="en-US" sz="1088" dirty="0"/>
          </a:p>
        </p:txBody>
      </p:sp>
      <p:sp>
        <p:nvSpPr>
          <p:cNvPr id="39" name="Text 37"/>
          <p:cNvSpPr/>
          <p:nvPr/>
        </p:nvSpPr>
        <p:spPr>
          <a:xfrm>
            <a:off x="504825" y="6477446"/>
            <a:ext cx="3571113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975" dirty="0">
                <a:solidFill>
                  <a:srgbClr val="AE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gemini-2.5-flash </a:t>
            </a:r>
            <a:r>
              <a:rPr lang="en-US" sz="975" dirty="0">
                <a:solidFill>
                  <a:srgbClr val="F3F2F8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 the official SDK, called </a:t>
            </a: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server-side only </a:t>
            </a:r>
            <a:r>
              <a:rPr lang="en-US" sz="975" dirty="0">
                <a:solidFill>
                  <a:srgbClr val="F3F2F8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the Edge Function. Streamed response; key lives in a Supabase secret, never shipped to the browser.</a:t>
            </a:r>
            <a:endParaRPr lang="en-US" sz="975" dirty="0"/>
          </a:p>
        </p:txBody>
      </p:sp>
      <p:sp>
        <p:nvSpPr>
          <p:cNvPr id="40" name="Shape 38"/>
          <p:cNvSpPr/>
          <p:nvPr/>
        </p:nvSpPr>
        <p:spPr>
          <a:xfrm>
            <a:off x="4324350" y="6048821"/>
            <a:ext cx="3924300" cy="1222921"/>
          </a:xfrm>
          <a:prstGeom prst="roundRect">
            <a:avLst>
              <a:gd name="adj" fmla="val 11683"/>
            </a:avLst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324350" y="7262217"/>
            <a:ext cx="39243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324350" y="6048821"/>
            <a:ext cx="39243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324350" y="6048821"/>
            <a:ext cx="28575" cy="1222921"/>
          </a:xfrm>
          <a:prstGeom prst="rect">
            <a:avLst/>
          </a:prstGeom>
          <a:solidFill>
            <a:srgbClr val="46D3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8239125" y="6048821"/>
            <a:ext cx="9525" cy="1222921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562475" y="6248846"/>
            <a:ext cx="381381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8" b="1" dirty="0">
                <a:solidFill>
                  <a:srgbClr val="F3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</a:t>
            </a:r>
            <a:endParaRPr lang="en-US" sz="1088" dirty="0"/>
          </a:p>
        </p:txBody>
      </p:sp>
      <p:sp>
        <p:nvSpPr>
          <p:cNvPr id="46" name="Text 44"/>
          <p:cNvSpPr/>
          <p:nvPr/>
        </p:nvSpPr>
        <p:spPr>
          <a:xfrm>
            <a:off x="4562475" y="6477446"/>
            <a:ext cx="3571113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975" dirty="0">
                <a:solidFill>
                  <a:srgbClr val="F3F2F8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+ seed in versioned SQL migrations. Secrets via </a:t>
            </a:r>
            <a:r>
              <a:rPr lang="en-US" sz="975" dirty="0">
                <a:solidFill>
                  <a:srgbClr val="9AEC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supabase secrets </a:t>
            </a:r>
            <a:r>
              <a:rPr lang="en-US" sz="975" dirty="0">
                <a:solidFill>
                  <a:srgbClr val="F3F2F8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No queue, no cache, no extra services — the demo doesn't need them.</a:t>
            </a:r>
            <a:endParaRPr lang="en-US" sz="975" dirty="0"/>
          </a:p>
        </p:txBody>
      </p:sp>
      <p:sp>
        <p:nvSpPr>
          <p:cNvPr id="47" name="Text 45"/>
          <p:cNvSpPr/>
          <p:nvPr/>
        </p:nvSpPr>
        <p:spPr>
          <a:xfrm>
            <a:off x="266700" y="7805142"/>
            <a:ext cx="878014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88" kern="0" spc="158" dirty="0">
                <a:solidFill>
                  <a:srgbClr val="F3F2F8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SYSTEM FLOW</a:t>
            </a:r>
            <a:endParaRPr lang="en-US" sz="788" dirty="0"/>
          </a:p>
        </p:txBody>
      </p:sp>
      <p:sp>
        <p:nvSpPr>
          <p:cNvPr id="48" name="Text 46"/>
          <p:cNvSpPr/>
          <p:nvPr/>
        </p:nvSpPr>
        <p:spPr>
          <a:xfrm>
            <a:off x="266700" y="8033742"/>
            <a:ext cx="878014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kern="0" spc="-45" dirty="0">
                <a:solidFill>
                  <a:srgbClr val="F3F2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write fans out to three views</a:t>
            </a:r>
            <a:endParaRPr lang="en-US" sz="2250" dirty="0"/>
          </a:p>
        </p:txBody>
      </p:sp>
      <p:sp>
        <p:nvSpPr>
          <p:cNvPr id="49" name="Shape 47"/>
          <p:cNvSpPr/>
          <p:nvPr/>
        </p:nvSpPr>
        <p:spPr>
          <a:xfrm>
            <a:off x="266700" y="8529042"/>
            <a:ext cx="7981950" cy="2616994"/>
          </a:xfrm>
          <a:prstGeom prst="roundRect">
            <a:avLst>
              <a:gd name="adj" fmla="val 6551"/>
            </a:avLst>
          </a:prstGeom>
          <a:gradFill rotWithShape="1">
            <a:gsLst>
              <a:gs pos="0">
                <a:srgbClr val="8482F7">
                  <a:alpha val="9000"/>
                </a:srgbClr>
              </a:gs>
              <a:gs pos="70000">
                <a:srgbClr val="FFFFFF">
                  <a:alpha val="2000"/>
                </a:srgbClr>
              </a:gs>
            </a:gsLst>
            <a:path path="circle">
              <a:fillToRect l="50000" r="50000" b="100000"/>
            </a:path>
          </a:gra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542925" y="8805267"/>
            <a:ext cx="1574899" cy="1216819"/>
          </a:xfrm>
          <a:prstGeom prst="roundRect">
            <a:avLst>
              <a:gd name="adj" fmla="val 10176"/>
            </a:avLst>
          </a:prstGeom>
          <a:solidFill>
            <a:srgbClr val="6D6BF6">
              <a:alpha val="10000"/>
            </a:srgbClr>
          </a:solidFill>
          <a:ln w="9525">
            <a:solidFill>
              <a:srgbClr val="6D6BF6">
                <a:alpha val="2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704850" y="8967192"/>
            <a:ext cx="1376154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kern="0" spc="75" dirty="0">
                <a:solidFill>
                  <a:srgbClr val="BCB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704850" y="9167217"/>
            <a:ext cx="1327249" cy="7310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75" dirty="0">
                <a:solidFill>
                  <a:srgbClr val="F3F2F8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 Studio — choose transformation, press Generate</a:t>
            </a:r>
            <a:endParaRPr lang="en-US" sz="975" dirty="0"/>
          </a:p>
        </p:txBody>
      </p:sp>
      <p:sp>
        <p:nvSpPr>
          <p:cNvPr id="53" name="Text 51"/>
          <p:cNvSpPr/>
          <p:nvPr/>
        </p:nvSpPr>
        <p:spPr>
          <a:xfrm>
            <a:off x="2232124" y="8805267"/>
            <a:ext cx="224135" cy="12549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F3F2F8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50" dirty="0"/>
          </a:p>
        </p:txBody>
      </p:sp>
      <p:sp>
        <p:nvSpPr>
          <p:cNvPr id="54" name="Shape 52"/>
          <p:cNvSpPr/>
          <p:nvPr/>
        </p:nvSpPr>
        <p:spPr>
          <a:xfrm>
            <a:off x="2494359" y="8805267"/>
            <a:ext cx="1575048" cy="1216819"/>
          </a:xfrm>
          <a:prstGeom prst="roundRect">
            <a:avLst>
              <a:gd name="adj" fmla="val 10176"/>
            </a:avLst>
          </a:prstGeom>
          <a:solidFill>
            <a:srgbClr val="A07BFF">
              <a:alpha val="10000"/>
            </a:srgbClr>
          </a:solidFill>
          <a:ln w="9525">
            <a:solidFill>
              <a:srgbClr val="A07BFF">
                <a:alpha val="2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2656284" y="8967192"/>
            <a:ext cx="1376318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kern="0" spc="75" dirty="0">
                <a:solidFill>
                  <a:srgbClr val="CBB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EDGE FN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2656284" y="9167217"/>
            <a:ext cx="1327398" cy="557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75" dirty="0">
                <a:solidFill>
                  <a:srgbClr val="F3F2F8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generate-version: build prompt, call Gemini, stream tokens</a:t>
            </a:r>
            <a:endParaRPr lang="en-US" sz="975" dirty="0"/>
          </a:p>
        </p:txBody>
      </p:sp>
      <p:sp>
        <p:nvSpPr>
          <p:cNvPr id="57" name="Text 55"/>
          <p:cNvSpPr/>
          <p:nvPr/>
        </p:nvSpPr>
        <p:spPr>
          <a:xfrm>
            <a:off x="4183707" y="8805267"/>
            <a:ext cx="224135" cy="12549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F3F2F8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50" dirty="0"/>
          </a:p>
        </p:txBody>
      </p:sp>
      <p:sp>
        <p:nvSpPr>
          <p:cNvPr id="58" name="Shape 56"/>
          <p:cNvSpPr/>
          <p:nvPr/>
        </p:nvSpPr>
        <p:spPr>
          <a:xfrm>
            <a:off x="4445943" y="8805267"/>
            <a:ext cx="1574899" cy="1216819"/>
          </a:xfrm>
          <a:prstGeom prst="roundRect">
            <a:avLst>
              <a:gd name="adj" fmla="val 10176"/>
            </a:avLst>
          </a:prstGeom>
          <a:solidFill>
            <a:srgbClr val="56C5FF">
              <a:alpha val="10000"/>
            </a:srgbClr>
          </a:solidFill>
          <a:ln w="9525">
            <a:solidFill>
              <a:srgbClr val="56C5FF">
                <a:alpha val="2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4607868" y="8967192"/>
            <a:ext cx="1376154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kern="0" spc="75" dirty="0">
                <a:solidFill>
                  <a:srgbClr val="AE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4607868" y="9167217"/>
            <a:ext cx="1327249" cy="557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75" dirty="0">
                <a:solidFill>
                  <a:srgbClr val="F3F2F8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gemini-2.5-flash returns the transformed text</a:t>
            </a:r>
            <a:endParaRPr lang="en-US" sz="975" dirty="0"/>
          </a:p>
        </p:txBody>
      </p:sp>
      <p:sp>
        <p:nvSpPr>
          <p:cNvPr id="61" name="Text 59"/>
          <p:cNvSpPr/>
          <p:nvPr/>
        </p:nvSpPr>
        <p:spPr>
          <a:xfrm>
            <a:off x="6135142" y="8805267"/>
            <a:ext cx="224135" cy="12549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F3F2F8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50" dirty="0"/>
          </a:p>
        </p:txBody>
      </p:sp>
      <p:sp>
        <p:nvSpPr>
          <p:cNvPr id="62" name="Shape 60"/>
          <p:cNvSpPr/>
          <p:nvPr/>
        </p:nvSpPr>
        <p:spPr>
          <a:xfrm>
            <a:off x="6397377" y="8805267"/>
            <a:ext cx="1575048" cy="1216819"/>
          </a:xfrm>
          <a:prstGeom prst="roundRect">
            <a:avLst>
              <a:gd name="adj" fmla="val 10176"/>
            </a:avLst>
          </a:prstGeom>
          <a:solidFill>
            <a:srgbClr val="46D3A6">
              <a:alpha val="10000"/>
            </a:srgbClr>
          </a:solidFill>
          <a:ln w="9525">
            <a:solidFill>
              <a:srgbClr val="46D3A6">
                <a:alpha val="2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6559302" y="8967192"/>
            <a:ext cx="1376318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kern="0" spc="75" dirty="0">
                <a:solidFill>
                  <a:srgbClr val="9AEC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POSTGRES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6559302" y="9167217"/>
            <a:ext cx="1327398" cy="557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75" dirty="0">
                <a:solidFill>
                  <a:srgbClr val="F3F2F8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versions + INSERT ai_events (one transaction)</a:t>
            </a:r>
            <a:endParaRPr lang="en-US" sz="975" dirty="0"/>
          </a:p>
        </p:txBody>
      </p:sp>
      <p:sp>
        <p:nvSpPr>
          <p:cNvPr id="65" name="Shape 63"/>
          <p:cNvSpPr/>
          <p:nvPr/>
        </p:nvSpPr>
        <p:spPr>
          <a:xfrm>
            <a:off x="542925" y="10174486"/>
            <a:ext cx="7429500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542925" y="10350698"/>
            <a:ext cx="78596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7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REALTIME ⚡</a:t>
            </a:r>
            <a:endParaRPr lang="en-US" sz="825" dirty="0"/>
          </a:p>
        </p:txBody>
      </p:sp>
      <p:sp>
        <p:nvSpPr>
          <p:cNvPr id="67" name="Text 65"/>
          <p:cNvSpPr/>
          <p:nvPr/>
        </p:nvSpPr>
        <p:spPr>
          <a:xfrm>
            <a:off x="1366986" y="10336411"/>
            <a:ext cx="445392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F3F2F8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 change events push to three subscribed views simultaneously →</a:t>
            </a:r>
            <a:endParaRPr lang="en-US" sz="975" dirty="0"/>
          </a:p>
        </p:txBody>
      </p:sp>
      <p:sp>
        <p:nvSpPr>
          <p:cNvPr id="68" name="Shape 66"/>
          <p:cNvSpPr/>
          <p:nvPr/>
        </p:nvSpPr>
        <p:spPr>
          <a:xfrm>
            <a:off x="542925" y="10622161"/>
            <a:ext cx="844451" cy="247650"/>
          </a:xfrm>
          <a:prstGeom prst="roundRect">
            <a:avLst>
              <a:gd name="adj" fmla="val 26923"/>
            </a:avLst>
          </a:prstGeom>
          <a:solidFill>
            <a:srgbClr val="F0B24A">
              <a:alpha val="10000"/>
            </a:srgbClr>
          </a:solidFill>
          <a:ln w="9525">
            <a:solidFill>
              <a:srgbClr val="F0B24A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647700" y="10669786"/>
            <a:ext cx="71110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5C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Tree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1463576" y="10622161"/>
            <a:ext cx="931962" cy="247650"/>
          </a:xfrm>
          <a:prstGeom prst="roundRect">
            <a:avLst>
              <a:gd name="adj" fmla="val 26923"/>
            </a:avLst>
          </a:prstGeom>
          <a:solidFill>
            <a:srgbClr val="46D3A6">
              <a:alpha val="10000"/>
            </a:srgbClr>
          </a:solidFill>
          <a:ln w="9525">
            <a:solidFill>
              <a:srgbClr val="46D3A6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1568351" y="10669786"/>
            <a:ext cx="79861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9AEC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Activity Log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2471738" y="10622161"/>
            <a:ext cx="591443" cy="247650"/>
          </a:xfrm>
          <a:prstGeom prst="roundRect">
            <a:avLst>
              <a:gd name="adj" fmla="val 26923"/>
            </a:avLst>
          </a:prstGeom>
          <a:solidFill>
            <a:srgbClr val="56C5FF">
              <a:alpha val="10000"/>
            </a:srgbClr>
          </a:solidFill>
          <a:ln w="9525">
            <a:solidFill>
              <a:srgbClr val="56C5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2576513" y="10669786"/>
            <a:ext cx="45809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AEE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266700" y="11679436"/>
            <a:ext cx="878014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88" kern="0" spc="158" dirty="0">
                <a:solidFill>
                  <a:srgbClr val="F3F2F8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DATABASE SCHEMA</a:t>
            </a:r>
            <a:endParaRPr lang="en-US" sz="788" dirty="0"/>
          </a:p>
        </p:txBody>
      </p:sp>
      <p:sp>
        <p:nvSpPr>
          <p:cNvPr id="75" name="Text 73"/>
          <p:cNvSpPr/>
          <p:nvPr/>
        </p:nvSpPr>
        <p:spPr>
          <a:xfrm>
            <a:off x="266700" y="11908036"/>
            <a:ext cx="878014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kern="0" spc="-45" dirty="0">
                <a:solidFill>
                  <a:srgbClr val="F3F2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tables. One self-reference is the whole tree.</a:t>
            </a:r>
            <a:endParaRPr lang="en-US" sz="2250" dirty="0"/>
          </a:p>
        </p:txBody>
      </p:sp>
      <p:sp>
        <p:nvSpPr>
          <p:cNvPr id="76" name="Text 74"/>
          <p:cNvSpPr/>
          <p:nvPr/>
        </p:nvSpPr>
        <p:spPr>
          <a:xfrm>
            <a:off x="266700" y="12269986"/>
            <a:ext cx="667131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3F2F8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 DDL, copy-paste-able as the first migration. </a:t>
            </a:r>
            <a:r>
              <a:rPr lang="en-US" sz="1050" dirty="0">
                <a:solidFill>
                  <a:srgbClr val="CBB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versions.parent_id </a:t>
            </a:r>
            <a:r>
              <a:rPr lang="en-US" sz="1050" dirty="0">
                <a:solidFill>
                  <a:srgbClr val="F3F2F8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pointing back at </a:t>
            </a:r>
            <a:r>
              <a:rPr lang="en-US" sz="1050" dirty="0">
                <a:solidFill>
                  <a:srgbClr val="CBB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versions.id </a:t>
            </a:r>
            <a:r>
              <a:rPr lang="en-US" sz="1050" dirty="0">
                <a:solidFill>
                  <a:srgbClr val="F3F2F8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Version Tree — no separate edge table.</a:t>
            </a:r>
            <a:endParaRPr lang="en-US" sz="1050" dirty="0"/>
          </a:p>
        </p:txBody>
      </p:sp>
      <p:sp>
        <p:nvSpPr>
          <p:cNvPr id="77" name="Shape 75"/>
          <p:cNvSpPr/>
          <p:nvPr/>
        </p:nvSpPr>
        <p:spPr>
          <a:xfrm>
            <a:off x="266700" y="12841486"/>
            <a:ext cx="2571750" cy="1877020"/>
          </a:xfrm>
          <a:prstGeom prst="roundRect">
            <a:avLst>
              <a:gd name="adj" fmla="val 7104"/>
            </a:avLst>
          </a:prstGeom>
          <a:solidFill>
            <a:srgbClr val="6D6BF6">
              <a:alpha val="6000"/>
            </a:srgbClr>
          </a:solidFill>
          <a:ln w="9525">
            <a:solidFill>
              <a:srgbClr val="6D6BF6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466725" y="13022461"/>
            <a:ext cx="238887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BCB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profiles</a:t>
            </a:r>
            <a:endParaRPr lang="en-US" sz="975" dirty="0"/>
          </a:p>
        </p:txBody>
      </p:sp>
      <p:sp>
        <p:nvSpPr>
          <p:cNvPr id="79" name="Text 77"/>
          <p:cNvSpPr/>
          <p:nvPr/>
        </p:nvSpPr>
        <p:spPr>
          <a:xfrm>
            <a:off x="466725" y="13279636"/>
            <a:ext cx="2247900" cy="8703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863" dirty="0">
                <a:solidFill>
                  <a:srgbClr val="F3F2F8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</a:t>
            </a:r>
            <a:r>
              <a:rPr lang="en-US" sz="863" dirty="0">
                <a:solidFill>
                  <a:srgbClr val="F3F2F8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uuid PK→auth </a:t>
            </a:r>
            <a:r>
              <a:rPr lang="en-US" sz="863" dirty="0">
                <a:solidFill>
                  <a:srgbClr val="F3F2F8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 </a:t>
            </a:r>
            <a:r>
              <a:rPr lang="en-US" sz="863" dirty="0">
                <a:solidFill>
                  <a:srgbClr val="F3F2F8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 </a:t>
            </a:r>
            <a:r>
              <a:rPr lang="en-US" sz="863" dirty="0">
                <a:solidFill>
                  <a:srgbClr val="F3F2F8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display_name </a:t>
            </a:r>
            <a:r>
              <a:rPr lang="en-US" sz="863" dirty="0">
                <a:solidFill>
                  <a:srgbClr val="F3F2F8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 </a:t>
            </a:r>
            <a:r>
              <a:rPr lang="en-US" sz="863" dirty="0">
                <a:solidFill>
                  <a:srgbClr val="F3F2F8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created_at </a:t>
            </a:r>
            <a:r>
              <a:rPr lang="en-US" sz="863" dirty="0">
                <a:solidFill>
                  <a:srgbClr val="F3F2F8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timestamptz</a:t>
            </a:r>
            <a:endParaRPr lang="en-US" sz="863" dirty="0"/>
          </a:p>
        </p:txBody>
      </p:sp>
      <p:sp>
        <p:nvSpPr>
          <p:cNvPr id="80" name="Shape 78"/>
          <p:cNvSpPr/>
          <p:nvPr/>
        </p:nvSpPr>
        <p:spPr>
          <a:xfrm>
            <a:off x="2971800" y="12841486"/>
            <a:ext cx="2571750" cy="1877020"/>
          </a:xfrm>
          <a:prstGeom prst="roundRect">
            <a:avLst>
              <a:gd name="adj" fmla="val 7104"/>
            </a:avLst>
          </a:prstGeom>
          <a:solidFill>
            <a:srgbClr val="A07BFF">
              <a:alpha val="6000"/>
            </a:srgbClr>
          </a:solidFill>
          <a:ln w="9525">
            <a:solidFill>
              <a:srgbClr val="A07B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3171825" y="13022461"/>
            <a:ext cx="238887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CBB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books</a:t>
            </a:r>
            <a:endParaRPr lang="en-US" sz="975" dirty="0"/>
          </a:p>
        </p:txBody>
      </p:sp>
      <p:sp>
        <p:nvSpPr>
          <p:cNvPr id="82" name="Text 80"/>
          <p:cNvSpPr/>
          <p:nvPr/>
        </p:nvSpPr>
        <p:spPr>
          <a:xfrm>
            <a:off x="3171825" y="13279636"/>
            <a:ext cx="2247900" cy="10784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863" dirty="0">
                <a:solidFill>
                  <a:srgbClr val="F3F2F8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</a:t>
            </a:r>
            <a:r>
              <a:rPr lang="en-US" sz="863" dirty="0">
                <a:solidFill>
                  <a:srgbClr val="F3F2F8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uuid PK </a:t>
            </a:r>
            <a:r>
              <a:rPr lang="en-US" sz="863" dirty="0">
                <a:solidFill>
                  <a:srgbClr val="F3F2F8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 · author </a:t>
            </a:r>
            <a:r>
              <a:rPr lang="en-US" sz="863" dirty="0">
                <a:solidFill>
                  <a:srgbClr val="F3F2F8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 </a:t>
            </a:r>
            <a:r>
              <a:rPr lang="en-US" sz="863" dirty="0">
                <a:solidFill>
                  <a:srgbClr val="F3F2F8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 </a:t>
            </a:r>
            <a:r>
              <a:rPr lang="en-US" sz="863" dirty="0">
                <a:solidFill>
                  <a:srgbClr val="F3F2F8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 </a:t>
            </a:r>
            <a:r>
              <a:rPr lang="en-US" sz="863" dirty="0">
                <a:solidFill>
                  <a:srgbClr val="F3F2F8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is_public_domain </a:t>
            </a:r>
            <a:r>
              <a:rPr lang="en-US" sz="863" dirty="0">
                <a:solidFill>
                  <a:srgbClr val="F3F2F8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 </a:t>
            </a:r>
            <a:r>
              <a:rPr lang="en-US" sz="863" dirty="0">
                <a:solidFill>
                  <a:srgbClr val="F3F2F8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created_at </a:t>
            </a:r>
            <a:r>
              <a:rPr lang="en-US" sz="863" dirty="0">
                <a:solidFill>
                  <a:srgbClr val="F3F2F8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timestamptz</a:t>
            </a:r>
            <a:endParaRPr lang="en-US" sz="863" dirty="0"/>
          </a:p>
        </p:txBody>
      </p:sp>
      <p:sp>
        <p:nvSpPr>
          <p:cNvPr id="83" name="Shape 81"/>
          <p:cNvSpPr/>
          <p:nvPr/>
        </p:nvSpPr>
        <p:spPr>
          <a:xfrm>
            <a:off x="5676900" y="12841486"/>
            <a:ext cx="2571750" cy="1877020"/>
          </a:xfrm>
          <a:prstGeom prst="roundRect">
            <a:avLst>
              <a:gd name="adj" fmla="val 7104"/>
            </a:avLst>
          </a:prstGeom>
          <a:solidFill>
            <a:srgbClr val="56C5FF">
              <a:alpha val="6000"/>
            </a:srgbClr>
          </a:solidFill>
          <a:ln w="9525">
            <a:solidFill>
              <a:srgbClr val="56C5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5876925" y="13022461"/>
            <a:ext cx="238887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AE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versions ⤴ self</a:t>
            </a:r>
            <a:endParaRPr lang="en-US" sz="975" dirty="0"/>
          </a:p>
        </p:txBody>
      </p:sp>
      <p:sp>
        <p:nvSpPr>
          <p:cNvPr id="85" name="Text 83"/>
          <p:cNvSpPr/>
          <p:nvPr/>
        </p:nvSpPr>
        <p:spPr>
          <a:xfrm>
            <a:off x="5876925" y="13289161"/>
            <a:ext cx="2247900" cy="1286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863" dirty="0">
                <a:solidFill>
                  <a:srgbClr val="F3F2F8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</a:t>
            </a:r>
            <a:r>
              <a:rPr lang="en-US" sz="863" dirty="0">
                <a:solidFill>
                  <a:srgbClr val="F3F2F8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uuid PK </a:t>
            </a:r>
            <a:r>
              <a:rPr lang="en-US" sz="863" dirty="0">
                <a:solidFill>
                  <a:srgbClr val="F3F2F8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book_id </a:t>
            </a:r>
            <a:r>
              <a:rPr lang="en-US" sz="863" dirty="0">
                <a:solidFill>
                  <a:srgbClr val="F3F2F8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→books </a:t>
            </a:r>
            <a:r>
              <a:rPr lang="en-US" sz="863" dirty="0">
                <a:solidFill>
                  <a:srgbClr val="F3F2F8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parent_id </a:t>
            </a:r>
            <a:r>
              <a:rPr lang="en-US" sz="863" dirty="0">
                <a:solidFill>
                  <a:srgbClr val="F3F2F8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→versions </a:t>
            </a:r>
            <a:r>
              <a:rPr lang="en-US" sz="863" dirty="0">
                <a:solidFill>
                  <a:srgbClr val="F3F2F8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creator_id </a:t>
            </a:r>
            <a:r>
              <a:rPr lang="en-US" sz="863" dirty="0">
                <a:solidFill>
                  <a:srgbClr val="F3F2F8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→profiles </a:t>
            </a:r>
            <a:r>
              <a:rPr lang="en-US" sz="863" dirty="0">
                <a:solidFill>
                  <a:srgbClr val="F3F2F8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 · title · body status · created_at</a:t>
            </a:r>
            <a:endParaRPr lang="en-US" sz="863" dirty="0"/>
          </a:p>
        </p:txBody>
      </p:sp>
      <p:sp>
        <p:nvSpPr>
          <p:cNvPr id="86" name="Shape 84"/>
          <p:cNvSpPr/>
          <p:nvPr/>
        </p:nvSpPr>
        <p:spPr>
          <a:xfrm>
            <a:off x="266700" y="14851856"/>
            <a:ext cx="7981950" cy="1867495"/>
          </a:xfrm>
          <a:prstGeom prst="roundRect">
            <a:avLst>
              <a:gd name="adj" fmla="val 7141"/>
            </a:avLst>
          </a:prstGeom>
          <a:solidFill>
            <a:srgbClr val="46D3A6">
              <a:alpha val="6000"/>
            </a:srgbClr>
          </a:solidFill>
          <a:ln w="9525">
            <a:solidFill>
              <a:srgbClr val="46D3A6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466725" y="15032831"/>
            <a:ext cx="834009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9AEC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ai_events</a:t>
            </a:r>
            <a:endParaRPr lang="en-US" sz="975" dirty="0"/>
          </a:p>
        </p:txBody>
      </p:sp>
      <p:sp>
        <p:nvSpPr>
          <p:cNvPr id="88" name="Text 86"/>
          <p:cNvSpPr/>
          <p:nvPr/>
        </p:nvSpPr>
        <p:spPr>
          <a:xfrm>
            <a:off x="466725" y="15290006"/>
            <a:ext cx="7809357" cy="1286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863" dirty="0">
                <a:solidFill>
                  <a:srgbClr val="F3F2F8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</a:t>
            </a:r>
            <a:r>
              <a:rPr lang="en-US" sz="863" dirty="0">
                <a:solidFill>
                  <a:srgbClr val="F3F2F8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uuid PK </a:t>
            </a:r>
            <a:r>
              <a:rPr lang="en-US" sz="863" dirty="0">
                <a:solidFill>
                  <a:srgbClr val="F3F2F8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version_id </a:t>
            </a:r>
            <a:r>
              <a:rPr lang="en-US" sz="863" dirty="0">
                <a:solidFill>
                  <a:srgbClr val="F3F2F8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→versions </a:t>
            </a:r>
            <a:r>
              <a:rPr lang="en-US" sz="863" dirty="0">
                <a:solidFill>
                  <a:srgbClr val="F3F2F8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· action </a:t>
            </a:r>
            <a:r>
              <a:rPr lang="en-US" sz="863" dirty="0">
                <a:solidFill>
                  <a:srgbClr val="F3F2F8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 </a:t>
            </a:r>
            <a:r>
              <a:rPr lang="en-US" sz="863" dirty="0">
                <a:solidFill>
                  <a:srgbClr val="F3F2F8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· status latency_ms </a:t>
            </a:r>
            <a:r>
              <a:rPr lang="en-US" sz="863" dirty="0">
                <a:solidFill>
                  <a:srgbClr val="F3F2F8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</a:t>
            </a:r>
            <a:r>
              <a:rPr lang="en-US" sz="863" dirty="0">
                <a:solidFill>
                  <a:srgbClr val="F3F2F8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created_at </a:t>
            </a:r>
            <a:r>
              <a:rPr lang="en-US" sz="863" dirty="0">
                <a:solidFill>
                  <a:srgbClr val="F3F2F8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timestamptz</a:t>
            </a:r>
            <a:endParaRPr lang="en-US" sz="863" dirty="0"/>
          </a:p>
        </p:txBody>
      </p:sp>
      <p:sp>
        <p:nvSpPr>
          <p:cNvPr id="89" name="Shape 87"/>
          <p:cNvSpPr/>
          <p:nvPr/>
        </p:nvSpPr>
        <p:spPr>
          <a:xfrm>
            <a:off x="266700" y="16947952"/>
            <a:ext cx="7981950" cy="10922794"/>
          </a:xfrm>
          <a:prstGeom prst="roundRect">
            <a:avLst>
              <a:gd name="adj" fmla="val 1909"/>
            </a:avLst>
          </a:prstGeom>
          <a:solidFill>
            <a:srgbClr val="0C0C14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Shape 88"/>
          <p:cNvSpPr/>
          <p:nvPr/>
        </p:nvSpPr>
        <p:spPr>
          <a:xfrm>
            <a:off x="276225" y="16957477"/>
            <a:ext cx="7962900" cy="35242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1" name="Shape 89"/>
          <p:cNvSpPr/>
          <p:nvPr/>
        </p:nvSpPr>
        <p:spPr>
          <a:xfrm>
            <a:off x="276225" y="17300377"/>
            <a:ext cx="79629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" name="Shape 90"/>
          <p:cNvSpPr/>
          <p:nvPr/>
        </p:nvSpPr>
        <p:spPr>
          <a:xfrm>
            <a:off x="428625" y="17086064"/>
            <a:ext cx="85725" cy="85725"/>
          </a:xfrm>
          <a:prstGeom prst="ellipse">
            <a:avLst/>
          </a:prstGeom>
          <a:solidFill>
            <a:srgbClr val="E260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3" name="Shape 91"/>
          <p:cNvSpPr/>
          <p:nvPr/>
        </p:nvSpPr>
        <p:spPr>
          <a:xfrm>
            <a:off x="590550" y="17086064"/>
            <a:ext cx="85725" cy="85725"/>
          </a:xfrm>
          <a:prstGeom prst="ellipse">
            <a:avLst/>
          </a:prstGeom>
          <a:solidFill>
            <a:srgbClr val="F0B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" name="Shape 92"/>
          <p:cNvSpPr/>
          <p:nvPr/>
        </p:nvSpPr>
        <p:spPr>
          <a:xfrm>
            <a:off x="752475" y="17086064"/>
            <a:ext cx="85725" cy="85725"/>
          </a:xfrm>
          <a:prstGeom prst="ellipse">
            <a:avLst/>
          </a:prstGeom>
          <a:solidFill>
            <a:srgbClr val="46D3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" name="Text 93"/>
          <p:cNvSpPr/>
          <p:nvPr/>
        </p:nvSpPr>
        <p:spPr>
          <a:xfrm>
            <a:off x="990600" y="17062252"/>
            <a:ext cx="228213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3F2F8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supabase/migrations/0001_init.sql</a:t>
            </a:r>
            <a:endParaRPr lang="en-US" sz="825" dirty="0"/>
          </a:p>
        </p:txBody>
      </p:sp>
      <p:sp>
        <p:nvSpPr>
          <p:cNvPr id="96" name="Text 94"/>
          <p:cNvSpPr/>
          <p:nvPr/>
        </p:nvSpPr>
        <p:spPr>
          <a:xfrm>
            <a:off x="485775" y="17519452"/>
            <a:ext cx="7782687" cy="1017031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85000"/>
              </a:lnSpc>
              <a:buNone/>
            </a:pPr>
            <a:r>
              <a:rPr lang="en-US" sz="938" dirty="0">
                <a:solidFill>
                  <a:srgbClr val="F3F2F8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profiles: mirrors auth.users, created by trigger on signup</a:t>
            </a:r>
            <a:r>
              <a:rPr lang="en-US" sz="938" dirty="0">
                <a:solidFill>
                  <a:srgbClr val="C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38" dirty="0">
                <a:solidFill>
                  <a:srgbClr val="9AEC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profiles 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endParaRPr lang="en-US" sz="938" dirty="0"/>
          </a:p>
          <a:p>
            <a:pPr marL="0" indent="0" algn="l">
              <a:lnSpc>
                <a:spcPct val="185000"/>
              </a:lnSpc>
              <a:buNone/>
            </a:pP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             </a:t>
            </a:r>
            <a:endParaRPr lang="en-US" sz="938" dirty="0"/>
          </a:p>
          <a:p>
            <a:pPr marL="0" indent="0" algn="l">
              <a:lnSpc>
                <a:spcPct val="185000"/>
              </a:lnSpc>
              <a:buNone/>
            </a:pPr>
            <a:r>
              <a:rPr lang="en-US" sz="938" dirty="0">
                <a:solidFill>
                  <a:srgbClr val="7F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uuid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38" dirty="0">
                <a:solidFill>
                  <a:srgbClr val="C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 key references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auth.users </a:t>
            </a:r>
            <a:r>
              <a:rPr lang="en-US" sz="938" dirty="0">
                <a:solidFill>
                  <a:srgbClr val="C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delete cascade 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38" dirty="0"/>
          </a:p>
          <a:p>
            <a:pPr marL="0" indent="0" algn="l">
              <a:lnSpc>
                <a:spcPct val="185000"/>
              </a:lnSpc>
              <a:buNone/>
            </a:pP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email          </a:t>
            </a:r>
            <a:endParaRPr lang="en-US" sz="938" dirty="0"/>
          </a:p>
          <a:p>
            <a:pPr marL="0" indent="0" algn="l">
              <a:lnSpc>
                <a:spcPct val="185000"/>
              </a:lnSpc>
              <a:buNone/>
            </a:pPr>
            <a:r>
              <a:rPr lang="en-US" sz="938" dirty="0">
                <a:solidFill>
                  <a:srgbClr val="7F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 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38" dirty="0"/>
          </a:p>
          <a:p>
            <a:pPr marL="0" indent="0" algn="l">
              <a:lnSpc>
                <a:spcPct val="185000"/>
              </a:lnSpc>
              <a:buNone/>
            </a:pP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display_name   </a:t>
            </a:r>
            <a:endParaRPr lang="en-US" sz="938" dirty="0"/>
          </a:p>
          <a:p>
            <a:pPr marL="0" indent="0" algn="l">
              <a:lnSpc>
                <a:spcPct val="185000"/>
              </a:lnSpc>
              <a:buNone/>
            </a:pPr>
            <a:r>
              <a:rPr lang="en-US" sz="938" dirty="0">
                <a:solidFill>
                  <a:srgbClr val="7F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 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38" dirty="0"/>
          </a:p>
          <a:p>
            <a:pPr marL="0" indent="0" algn="l">
              <a:lnSpc>
                <a:spcPct val="185000"/>
              </a:lnSpc>
              <a:buNone/>
            </a:pP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created_at     </a:t>
            </a:r>
            <a:endParaRPr lang="en-US" sz="938" dirty="0"/>
          </a:p>
          <a:p>
            <a:pPr marL="0" indent="0" algn="l">
              <a:lnSpc>
                <a:spcPct val="185000"/>
              </a:lnSpc>
              <a:buNone/>
            </a:pPr>
            <a:r>
              <a:rPr lang="en-US" sz="938" dirty="0">
                <a:solidFill>
                  <a:srgbClr val="7F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timestamptz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38" dirty="0">
                <a:solidFill>
                  <a:srgbClr val="C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null default 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now()</a:t>
            </a:r>
            <a:endParaRPr lang="en-US" sz="938" dirty="0"/>
          </a:p>
          <a:p>
            <a:pPr marL="0" indent="0" algn="l">
              <a:lnSpc>
                <a:spcPct val="185000"/>
              </a:lnSpc>
              <a:buNone/>
            </a:pP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</a:t>
            </a:r>
            <a:endParaRPr lang="en-US" sz="938" dirty="0"/>
          </a:p>
          <a:p>
            <a:pPr marL="0" indent="0" algn="l">
              <a:lnSpc>
                <a:spcPct val="185000"/>
              </a:lnSpc>
              <a:buNone/>
            </a:pPr>
            <a:r>
              <a:rPr lang="en-US" sz="938" dirty="0">
                <a:solidFill>
                  <a:srgbClr val="F3F2F8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books: seeded public-domain works (MVP = Frankenstein only)</a:t>
            </a:r>
            <a:r>
              <a:rPr lang="en-US" sz="938" dirty="0">
                <a:solidFill>
                  <a:srgbClr val="C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38" dirty="0">
                <a:solidFill>
                  <a:srgbClr val="9AEC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books 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endParaRPr lang="en-US" sz="938" dirty="0"/>
          </a:p>
          <a:p>
            <a:pPr marL="0" indent="0" algn="l">
              <a:lnSpc>
                <a:spcPct val="185000"/>
              </a:lnSpc>
              <a:buNone/>
            </a:pP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                 </a:t>
            </a:r>
            <a:endParaRPr lang="en-US" sz="938" dirty="0"/>
          </a:p>
          <a:p>
            <a:pPr marL="0" indent="0" algn="l">
              <a:lnSpc>
                <a:spcPct val="185000"/>
              </a:lnSpc>
              <a:buNone/>
            </a:pPr>
            <a:r>
              <a:rPr lang="en-US" sz="938" dirty="0">
                <a:solidFill>
                  <a:srgbClr val="7F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uuid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38" dirty="0">
                <a:solidFill>
                  <a:srgbClr val="C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 key default 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gen_random_uuid(),</a:t>
            </a:r>
            <a:endParaRPr lang="en-US" sz="938" dirty="0"/>
          </a:p>
          <a:p>
            <a:pPr marL="0" indent="0" algn="l">
              <a:lnSpc>
                <a:spcPct val="185000"/>
              </a:lnSpc>
              <a:buNone/>
            </a:pP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title              </a:t>
            </a:r>
            <a:endParaRPr lang="en-US" sz="938" dirty="0"/>
          </a:p>
          <a:p>
            <a:pPr marL="0" indent="0" algn="l">
              <a:lnSpc>
                <a:spcPct val="185000"/>
              </a:lnSpc>
              <a:buNone/>
            </a:pPr>
            <a:r>
              <a:rPr lang="en-US" sz="938" dirty="0">
                <a:solidFill>
                  <a:srgbClr val="7F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38" dirty="0">
                <a:solidFill>
                  <a:srgbClr val="C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null 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38" dirty="0"/>
          </a:p>
          <a:p>
            <a:pPr marL="0" indent="0" algn="l">
              <a:lnSpc>
                <a:spcPct val="185000"/>
              </a:lnSpc>
              <a:buNone/>
            </a:pP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author             </a:t>
            </a:r>
            <a:endParaRPr lang="en-US" sz="938" dirty="0"/>
          </a:p>
          <a:p>
            <a:pPr marL="0" indent="0" algn="l">
              <a:lnSpc>
                <a:spcPct val="185000"/>
              </a:lnSpc>
              <a:buNone/>
            </a:pPr>
            <a:r>
              <a:rPr lang="en-US" sz="938" dirty="0">
                <a:solidFill>
                  <a:srgbClr val="7F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38" dirty="0">
                <a:solidFill>
                  <a:srgbClr val="C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null 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38" dirty="0"/>
          </a:p>
          <a:p>
            <a:pPr marL="0" indent="0" algn="l">
              <a:lnSpc>
                <a:spcPct val="185000"/>
              </a:lnSpc>
              <a:buNone/>
            </a:pP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body               </a:t>
            </a:r>
            <a:endParaRPr lang="en-US" sz="938" dirty="0"/>
          </a:p>
          <a:p>
            <a:pPr marL="0" indent="0" algn="l">
              <a:lnSpc>
                <a:spcPct val="185000"/>
              </a:lnSpc>
              <a:buNone/>
            </a:pPr>
            <a:r>
              <a:rPr lang="en-US" sz="938" dirty="0">
                <a:solidFill>
                  <a:srgbClr val="7F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38" dirty="0">
                <a:solidFill>
                  <a:srgbClr val="C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null 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38" dirty="0"/>
          </a:p>
          <a:p>
            <a:pPr marL="0" indent="0" algn="l">
              <a:lnSpc>
                <a:spcPct val="185000"/>
              </a:lnSpc>
              <a:buNone/>
            </a:pP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is_public_domain   </a:t>
            </a:r>
            <a:endParaRPr lang="en-US" sz="938" dirty="0"/>
          </a:p>
          <a:p>
            <a:pPr marL="0" indent="0" algn="l">
              <a:lnSpc>
                <a:spcPct val="185000"/>
              </a:lnSpc>
              <a:buNone/>
            </a:pPr>
            <a:r>
              <a:rPr lang="en-US" sz="938" dirty="0">
                <a:solidFill>
                  <a:srgbClr val="7F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38" dirty="0">
                <a:solidFill>
                  <a:srgbClr val="C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null default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38" dirty="0">
                <a:solidFill>
                  <a:srgbClr val="C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 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38" dirty="0"/>
          </a:p>
          <a:p>
            <a:pPr marL="0" indent="0" algn="l">
              <a:lnSpc>
                <a:spcPct val="185000"/>
              </a:lnSpc>
              <a:buNone/>
            </a:pP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created_at         </a:t>
            </a:r>
            <a:endParaRPr lang="en-US" sz="938" dirty="0"/>
          </a:p>
          <a:p>
            <a:pPr marL="0" indent="0" algn="l">
              <a:lnSpc>
                <a:spcPct val="185000"/>
              </a:lnSpc>
              <a:buNone/>
            </a:pPr>
            <a:r>
              <a:rPr lang="en-US" sz="938" dirty="0">
                <a:solidFill>
                  <a:srgbClr val="7F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timestamptz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38" dirty="0">
                <a:solidFill>
                  <a:srgbClr val="C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null default 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now()</a:t>
            </a:r>
            <a:endParaRPr lang="en-US" sz="938" dirty="0"/>
          </a:p>
          <a:p>
            <a:pPr marL="0" indent="0" algn="l">
              <a:lnSpc>
                <a:spcPct val="185000"/>
              </a:lnSpc>
              <a:buNone/>
            </a:pP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</a:t>
            </a:r>
            <a:endParaRPr lang="en-US" sz="938" dirty="0"/>
          </a:p>
          <a:p>
            <a:pPr marL="0" indent="0" algn="l">
              <a:lnSpc>
                <a:spcPct val="185000"/>
              </a:lnSpc>
              <a:buNone/>
            </a:pPr>
            <a:r>
              <a:rPr lang="en-US" sz="938" dirty="0">
                <a:solidFill>
                  <a:srgbClr val="F3F2F8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versions: a branch. parent_id self-FK IS the Version Tree.</a:t>
            </a:r>
            <a:r>
              <a:rPr lang="en-US" sz="938" dirty="0">
                <a:solidFill>
                  <a:srgbClr val="C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type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38" dirty="0">
                <a:solidFill>
                  <a:srgbClr val="9AEC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version_kind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38" dirty="0">
                <a:solidFill>
                  <a:srgbClr val="C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 enum 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endParaRPr lang="en-US" sz="938" dirty="0"/>
          </a:p>
          <a:p>
            <a:pPr marL="0" indent="0" algn="l">
              <a:lnSpc>
                <a:spcPct val="185000"/>
              </a:lnSpc>
              <a:buNone/>
            </a:pP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endParaRPr lang="en-US" sz="938" dirty="0"/>
          </a:p>
          <a:p>
            <a:pPr marL="0" indent="0" algn="l">
              <a:lnSpc>
                <a:spcPct val="185000"/>
              </a:lnSpc>
              <a:buNone/>
            </a:pPr>
            <a:r>
              <a:rPr lang="en-US" sz="938" dirty="0">
                <a:solidFill>
                  <a:srgbClr val="F3F2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'alternate_ending'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938" dirty="0">
                <a:solidFill>
                  <a:srgbClr val="F3F2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'children'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938" dirty="0">
                <a:solidFill>
                  <a:srgbClr val="F3F2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'spanish'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938" dirty="0">
                <a:solidFill>
                  <a:srgbClr val="F3F2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'educational' 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</a:t>
            </a:r>
            <a:r>
              <a:rPr lang="en-US" sz="938" dirty="0">
                <a:solidFill>
                  <a:srgbClr val="C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type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38" dirty="0">
                <a:solidFill>
                  <a:srgbClr val="9AEC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version_status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38" dirty="0">
                <a:solidFill>
                  <a:srgbClr val="C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 enum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r>
              <a:rPr lang="en-US" sz="938" dirty="0">
                <a:solidFill>
                  <a:srgbClr val="F3F2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'generating'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938" dirty="0">
                <a:solidFill>
                  <a:srgbClr val="F3F2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'ready'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938" dirty="0">
                <a:solidFill>
                  <a:srgbClr val="F3F2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'failed'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</a:t>
            </a:r>
            <a:r>
              <a:rPr lang="en-US" sz="938" dirty="0">
                <a:solidFill>
                  <a:srgbClr val="C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38" dirty="0">
                <a:solidFill>
                  <a:srgbClr val="9AEC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versions 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endParaRPr lang="en-US" sz="938" dirty="0"/>
          </a:p>
          <a:p>
            <a:pPr marL="0" indent="0" algn="l">
              <a:lnSpc>
                <a:spcPct val="185000"/>
              </a:lnSpc>
              <a:buNone/>
            </a:pP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           </a:t>
            </a:r>
            <a:endParaRPr lang="en-US" sz="938" dirty="0"/>
          </a:p>
          <a:p>
            <a:pPr marL="0" indent="0" algn="l">
              <a:lnSpc>
                <a:spcPct val="185000"/>
              </a:lnSpc>
              <a:buNone/>
            </a:pPr>
            <a:r>
              <a:rPr lang="en-US" sz="938" dirty="0">
                <a:solidFill>
                  <a:srgbClr val="7F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uuid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38" dirty="0">
                <a:solidFill>
                  <a:srgbClr val="C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 key default 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gen_random_uuid(),</a:t>
            </a:r>
            <a:endParaRPr lang="en-US" sz="938" dirty="0"/>
          </a:p>
          <a:p>
            <a:pPr marL="0" indent="0" algn="l">
              <a:lnSpc>
                <a:spcPct val="185000"/>
              </a:lnSpc>
              <a:buNone/>
            </a:pP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book_id      </a:t>
            </a:r>
            <a:endParaRPr lang="en-US" sz="938" dirty="0"/>
          </a:p>
          <a:p>
            <a:pPr marL="0" indent="0" algn="l">
              <a:lnSpc>
                <a:spcPct val="185000"/>
              </a:lnSpc>
              <a:buNone/>
            </a:pPr>
            <a:r>
              <a:rPr lang="en-US" sz="938" dirty="0">
                <a:solidFill>
                  <a:srgbClr val="7F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uuid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38" dirty="0">
                <a:solidFill>
                  <a:srgbClr val="C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null references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books </a:t>
            </a:r>
            <a:r>
              <a:rPr lang="en-US" sz="938" dirty="0">
                <a:solidFill>
                  <a:srgbClr val="C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delete cascade 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38" dirty="0"/>
          </a:p>
          <a:p>
            <a:pPr marL="0" indent="0" algn="l">
              <a:lnSpc>
                <a:spcPct val="185000"/>
              </a:lnSpc>
              <a:buNone/>
            </a:pP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parent_id    </a:t>
            </a:r>
            <a:endParaRPr lang="en-US" sz="938" dirty="0"/>
          </a:p>
          <a:p>
            <a:pPr marL="0" indent="0" algn="l">
              <a:lnSpc>
                <a:spcPct val="185000"/>
              </a:lnSpc>
              <a:buNone/>
            </a:pPr>
            <a:r>
              <a:rPr lang="en-US" sz="938" dirty="0">
                <a:solidFill>
                  <a:srgbClr val="7F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uuid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38" dirty="0">
                <a:solidFill>
                  <a:srgbClr val="C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references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versions </a:t>
            </a:r>
            <a:r>
              <a:rPr lang="en-US" sz="938" dirty="0">
                <a:solidFill>
                  <a:srgbClr val="C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delete cascade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 </a:t>
            </a:r>
            <a:r>
              <a:rPr lang="en-US" sz="938" dirty="0">
                <a:solidFill>
                  <a:srgbClr val="F3F2F8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null = root 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creator_id  </a:t>
            </a:r>
            <a:r>
              <a:rPr lang="en-US" sz="938" dirty="0">
                <a:solidFill>
                  <a:srgbClr val="7F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uuid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38" dirty="0">
                <a:solidFill>
                  <a:srgbClr val="C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null references 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profiles,</a:t>
            </a:r>
            <a:endParaRPr lang="en-US" sz="938" dirty="0"/>
          </a:p>
          <a:p>
            <a:pPr marL="0" indent="0" algn="l">
              <a:lnSpc>
                <a:spcPct val="185000"/>
              </a:lnSpc>
              <a:buNone/>
            </a:pP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kind         </a:t>
            </a:r>
            <a:endParaRPr lang="en-US" sz="938" dirty="0"/>
          </a:p>
          <a:p>
            <a:pPr marL="0" indent="0" algn="l">
              <a:lnSpc>
                <a:spcPct val="185000"/>
              </a:lnSpc>
              <a:buNone/>
            </a:pPr>
            <a:r>
              <a:rPr lang="en-US" sz="938" dirty="0">
                <a:solidFill>
                  <a:srgbClr val="9AEC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version_kind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38" dirty="0">
                <a:solidFill>
                  <a:srgbClr val="C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null 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38" dirty="0"/>
          </a:p>
          <a:p>
            <a:pPr marL="0" indent="0" algn="l">
              <a:lnSpc>
                <a:spcPct val="185000"/>
              </a:lnSpc>
              <a:buNone/>
            </a:pP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title        </a:t>
            </a:r>
            <a:endParaRPr lang="en-US" sz="938" dirty="0"/>
          </a:p>
          <a:p>
            <a:pPr marL="0" indent="0" algn="l">
              <a:lnSpc>
                <a:spcPct val="185000"/>
              </a:lnSpc>
              <a:buNone/>
            </a:pPr>
            <a:r>
              <a:rPr lang="en-US" sz="938" dirty="0">
                <a:solidFill>
                  <a:srgbClr val="7F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38" dirty="0">
                <a:solidFill>
                  <a:srgbClr val="C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null 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38" dirty="0"/>
          </a:p>
          <a:p>
            <a:pPr marL="0" indent="0" algn="l">
              <a:lnSpc>
                <a:spcPct val="185000"/>
              </a:lnSpc>
              <a:buNone/>
            </a:pP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body         </a:t>
            </a:r>
            <a:endParaRPr lang="en-US" sz="938" dirty="0"/>
          </a:p>
          <a:p>
            <a:pPr marL="0" indent="0" algn="l">
              <a:lnSpc>
                <a:spcPct val="185000"/>
              </a:lnSpc>
              <a:buNone/>
            </a:pPr>
            <a:r>
              <a:rPr lang="en-US" sz="938" dirty="0">
                <a:solidFill>
                  <a:srgbClr val="7F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 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38" dirty="0"/>
          </a:p>
          <a:p>
            <a:pPr marL="0" indent="0" algn="l">
              <a:lnSpc>
                <a:spcPct val="185000"/>
              </a:lnSpc>
              <a:buNone/>
            </a:pP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status       </a:t>
            </a:r>
            <a:endParaRPr lang="en-US" sz="938" dirty="0"/>
          </a:p>
          <a:p>
            <a:pPr marL="0" indent="0" algn="l">
              <a:lnSpc>
                <a:spcPct val="185000"/>
              </a:lnSpc>
              <a:buNone/>
            </a:pPr>
            <a:r>
              <a:rPr lang="en-US" sz="938" dirty="0">
                <a:solidFill>
                  <a:srgbClr val="9AEC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version_status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38" dirty="0">
                <a:solidFill>
                  <a:srgbClr val="C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null default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38" dirty="0">
                <a:solidFill>
                  <a:srgbClr val="F3F2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'generating' 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38" dirty="0"/>
          </a:p>
          <a:p>
            <a:pPr marL="0" indent="0" algn="l">
              <a:lnSpc>
                <a:spcPct val="185000"/>
              </a:lnSpc>
              <a:buNone/>
            </a:pP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created_at   </a:t>
            </a:r>
            <a:endParaRPr lang="en-US" sz="938" dirty="0"/>
          </a:p>
          <a:p>
            <a:pPr marL="0" indent="0" algn="l">
              <a:lnSpc>
                <a:spcPct val="185000"/>
              </a:lnSpc>
              <a:buNone/>
            </a:pPr>
            <a:r>
              <a:rPr lang="en-US" sz="938" dirty="0">
                <a:solidFill>
                  <a:srgbClr val="7F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timestamptz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38" dirty="0">
                <a:solidFill>
                  <a:srgbClr val="C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null default 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now()</a:t>
            </a:r>
            <a:endParaRPr lang="en-US" sz="938" dirty="0"/>
          </a:p>
          <a:p>
            <a:pPr marL="0" indent="0" algn="l">
              <a:lnSpc>
                <a:spcPct val="185000"/>
              </a:lnSpc>
              <a:buNone/>
            </a:pP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</a:t>
            </a:r>
            <a:endParaRPr lang="en-US" sz="938" dirty="0"/>
          </a:p>
          <a:p>
            <a:pPr marL="0" indent="0" algn="l">
              <a:lnSpc>
                <a:spcPct val="185000"/>
              </a:lnSpc>
              <a:buNone/>
            </a:pPr>
            <a:r>
              <a:rPr lang="en-US" sz="938" dirty="0">
                <a:solidFill>
                  <a:srgbClr val="C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index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38" dirty="0">
                <a:solidFill>
                  <a:srgbClr val="C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38" dirty="0">
                <a:solidFill>
                  <a:srgbClr val="9AEC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versions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(book_id); </a:t>
            </a:r>
            <a:r>
              <a:rPr lang="en-US" sz="938" dirty="0">
                <a:solidFill>
                  <a:srgbClr val="C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index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38" dirty="0">
                <a:solidFill>
                  <a:srgbClr val="C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38" dirty="0">
                <a:solidFill>
                  <a:srgbClr val="9AEC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versions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(parent_id); </a:t>
            </a:r>
            <a:r>
              <a:rPr lang="en-US" sz="938" dirty="0">
                <a:solidFill>
                  <a:srgbClr val="F3F2F8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ai_events: one row per Gemini call. Powers the activity log + metrics.</a:t>
            </a:r>
            <a:r>
              <a:rPr lang="en-US" sz="938" dirty="0">
                <a:solidFill>
                  <a:srgbClr val="C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38" dirty="0">
                <a:solidFill>
                  <a:srgbClr val="9AEC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ai_events 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endParaRPr lang="en-US" sz="938" dirty="0"/>
          </a:p>
          <a:p>
            <a:pPr marL="0" indent="0" algn="l">
              <a:lnSpc>
                <a:spcPct val="185000"/>
              </a:lnSpc>
              <a:buNone/>
            </a:pP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           </a:t>
            </a:r>
            <a:endParaRPr lang="en-US" sz="938" dirty="0"/>
          </a:p>
          <a:p>
            <a:pPr marL="0" indent="0" algn="l">
              <a:lnSpc>
                <a:spcPct val="185000"/>
              </a:lnSpc>
              <a:buNone/>
            </a:pPr>
            <a:r>
              <a:rPr lang="en-US" sz="938" dirty="0">
                <a:solidFill>
                  <a:srgbClr val="7F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uuid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38" dirty="0">
                <a:solidFill>
                  <a:srgbClr val="C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 key default 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gen_random_uuid(),</a:t>
            </a:r>
            <a:endParaRPr lang="en-US" sz="938" dirty="0"/>
          </a:p>
          <a:p>
            <a:pPr marL="0" indent="0" algn="l">
              <a:lnSpc>
                <a:spcPct val="185000"/>
              </a:lnSpc>
              <a:buNone/>
            </a:pP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version_id   </a:t>
            </a:r>
            <a:endParaRPr lang="en-US" sz="938" dirty="0"/>
          </a:p>
          <a:p>
            <a:pPr marL="0" indent="0" algn="l">
              <a:lnSpc>
                <a:spcPct val="185000"/>
              </a:lnSpc>
              <a:buNone/>
            </a:pPr>
            <a:r>
              <a:rPr lang="en-US" sz="938" dirty="0">
                <a:solidFill>
                  <a:srgbClr val="7F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uuid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38" dirty="0">
                <a:solidFill>
                  <a:srgbClr val="C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references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versions </a:t>
            </a:r>
            <a:r>
              <a:rPr lang="en-US" sz="938" dirty="0">
                <a:solidFill>
                  <a:srgbClr val="C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delete cascade 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38" dirty="0"/>
          </a:p>
          <a:p>
            <a:pPr marL="0" indent="0" algn="l">
              <a:lnSpc>
                <a:spcPct val="185000"/>
              </a:lnSpc>
              <a:buNone/>
            </a:pP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agent        </a:t>
            </a:r>
            <a:endParaRPr lang="en-US" sz="938" dirty="0"/>
          </a:p>
          <a:p>
            <a:pPr marL="0" indent="0" algn="l">
              <a:lnSpc>
                <a:spcPct val="185000"/>
              </a:lnSpc>
              <a:buNone/>
            </a:pPr>
            <a:r>
              <a:rPr lang="en-US" sz="938" dirty="0">
                <a:solidFill>
                  <a:srgbClr val="7F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38" dirty="0">
                <a:solidFill>
                  <a:srgbClr val="C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null default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38" dirty="0">
                <a:solidFill>
                  <a:srgbClr val="F3F2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'Creator Agent' 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38" dirty="0"/>
          </a:p>
          <a:p>
            <a:pPr marL="0" indent="0" algn="l">
              <a:lnSpc>
                <a:spcPct val="185000"/>
              </a:lnSpc>
              <a:buNone/>
            </a:pP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action       </a:t>
            </a:r>
            <a:endParaRPr lang="en-US" sz="938" dirty="0"/>
          </a:p>
          <a:p>
            <a:pPr marL="0" indent="0" algn="l">
              <a:lnSpc>
                <a:spcPct val="185000"/>
              </a:lnSpc>
              <a:buNone/>
            </a:pPr>
            <a:r>
              <a:rPr lang="en-US" sz="938" dirty="0">
                <a:solidFill>
                  <a:srgbClr val="7F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38" dirty="0">
                <a:solidFill>
                  <a:srgbClr val="C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null 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38" dirty="0"/>
          </a:p>
          <a:p>
            <a:pPr marL="0" indent="0" algn="l">
              <a:lnSpc>
                <a:spcPct val="185000"/>
              </a:lnSpc>
              <a:buNone/>
            </a:pP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model        </a:t>
            </a:r>
            <a:endParaRPr lang="en-US" sz="938" dirty="0"/>
          </a:p>
          <a:p>
            <a:pPr marL="0" indent="0" algn="l">
              <a:lnSpc>
                <a:spcPct val="185000"/>
              </a:lnSpc>
              <a:buNone/>
            </a:pPr>
            <a:r>
              <a:rPr lang="en-US" sz="938" dirty="0">
                <a:solidFill>
                  <a:srgbClr val="7F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38" dirty="0">
                <a:solidFill>
                  <a:srgbClr val="C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null default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38" dirty="0">
                <a:solidFill>
                  <a:srgbClr val="F3F2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'gemini-2.5-flash' 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38" dirty="0"/>
          </a:p>
          <a:p>
            <a:pPr marL="0" indent="0" algn="l">
              <a:lnSpc>
                <a:spcPct val="185000"/>
              </a:lnSpc>
              <a:buNone/>
            </a:pP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status       </a:t>
            </a:r>
            <a:endParaRPr lang="en-US" sz="938" dirty="0"/>
          </a:p>
          <a:p>
            <a:pPr marL="0" indent="0" algn="l">
              <a:lnSpc>
                <a:spcPct val="185000"/>
              </a:lnSpc>
              <a:buNone/>
            </a:pPr>
            <a:r>
              <a:rPr lang="en-US" sz="938" dirty="0">
                <a:solidFill>
                  <a:srgbClr val="7F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38" dirty="0">
                <a:solidFill>
                  <a:srgbClr val="C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null default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38" dirty="0">
                <a:solidFill>
                  <a:srgbClr val="F3F2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'success' 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38" dirty="0"/>
          </a:p>
          <a:p>
            <a:pPr marL="0" indent="0" algn="l">
              <a:lnSpc>
                <a:spcPct val="185000"/>
              </a:lnSpc>
              <a:buNone/>
            </a:pP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latency_ms   </a:t>
            </a:r>
            <a:endParaRPr lang="en-US" sz="938" dirty="0"/>
          </a:p>
          <a:p>
            <a:pPr marL="0" indent="0" algn="l">
              <a:lnSpc>
                <a:spcPct val="185000"/>
              </a:lnSpc>
              <a:buNone/>
            </a:pPr>
            <a:r>
              <a:rPr lang="en-US" sz="938" dirty="0">
                <a:solidFill>
                  <a:srgbClr val="7F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integer 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38" dirty="0"/>
          </a:p>
          <a:p>
            <a:pPr marL="0" indent="0" algn="l">
              <a:lnSpc>
                <a:spcPct val="185000"/>
              </a:lnSpc>
              <a:buNone/>
            </a:pP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created_at   </a:t>
            </a:r>
            <a:endParaRPr lang="en-US" sz="938" dirty="0"/>
          </a:p>
          <a:p>
            <a:pPr marL="0" indent="0" algn="l">
              <a:lnSpc>
                <a:spcPct val="185000"/>
              </a:lnSpc>
              <a:buNone/>
            </a:pPr>
            <a:r>
              <a:rPr lang="en-US" sz="938" dirty="0">
                <a:solidFill>
                  <a:srgbClr val="7F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timestamptz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38" dirty="0">
                <a:solidFill>
                  <a:srgbClr val="C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null default 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now()</a:t>
            </a:r>
            <a:endParaRPr lang="en-US" sz="938" dirty="0"/>
          </a:p>
          <a:p>
            <a:pPr marL="0" indent="0" algn="l">
              <a:lnSpc>
                <a:spcPct val="185000"/>
              </a:lnSpc>
              <a:buNone/>
            </a:pP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</a:t>
            </a:r>
            <a:endParaRPr lang="en-US" sz="938" dirty="0"/>
          </a:p>
          <a:p>
            <a:pPr marL="0" indent="0" algn="l">
              <a:lnSpc>
                <a:spcPct val="185000"/>
              </a:lnSpc>
              <a:buNone/>
            </a:pPr>
            <a:r>
              <a:rPr lang="en-US" sz="938" dirty="0">
                <a:solidFill>
                  <a:srgbClr val="C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index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38" dirty="0">
                <a:solidFill>
                  <a:srgbClr val="C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38" dirty="0">
                <a:solidFill>
                  <a:srgbClr val="9AEC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ai_events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(created_at </a:t>
            </a:r>
            <a:r>
              <a:rPr lang="en-US" sz="938" dirty="0">
                <a:solidFill>
                  <a:srgbClr val="C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38" dirty="0"/>
          </a:p>
        </p:txBody>
      </p:sp>
      <p:sp>
        <p:nvSpPr>
          <p:cNvPr id="97" name="Text 95"/>
          <p:cNvSpPr/>
          <p:nvPr/>
        </p:nvSpPr>
        <p:spPr>
          <a:xfrm>
            <a:off x="266700" y="28251745"/>
            <a:ext cx="878014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88" kern="0" spc="158" dirty="0">
                <a:solidFill>
                  <a:srgbClr val="F3F2F8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ROW-LEVEL SECURITY</a:t>
            </a:r>
            <a:endParaRPr lang="en-US" sz="788" dirty="0"/>
          </a:p>
        </p:txBody>
      </p:sp>
      <p:sp>
        <p:nvSpPr>
          <p:cNvPr id="98" name="Text 96"/>
          <p:cNvSpPr/>
          <p:nvPr/>
        </p:nvSpPr>
        <p:spPr>
          <a:xfrm>
            <a:off x="266700" y="28480345"/>
            <a:ext cx="878014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-39" dirty="0">
                <a:solidFill>
                  <a:srgbClr val="F3F2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Read-open for the demo, write-gated to the Edge Function</a:t>
            </a:r>
            <a:endParaRPr lang="en-US" sz="1950" dirty="0"/>
          </a:p>
        </p:txBody>
      </p:sp>
      <p:sp>
        <p:nvSpPr>
          <p:cNvPr id="99" name="Text 97"/>
          <p:cNvSpPr/>
          <p:nvPr/>
        </p:nvSpPr>
        <p:spPr>
          <a:xfrm>
            <a:off x="266700" y="28804195"/>
            <a:ext cx="667131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3F2F8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signed-in user can read everything (the tree, the log, the metrics are public to the demo). Writes to </a:t>
            </a:r>
            <a:r>
              <a:rPr lang="en-US" sz="1050" dirty="0">
                <a:solidFill>
                  <a:srgbClr val="AE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versions </a:t>
            </a:r>
            <a:r>
              <a:rPr lang="en-US" sz="1050" dirty="0">
                <a:solidFill>
                  <a:srgbClr val="F3F2F8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</a:t>
            </a:r>
            <a:r>
              <a:rPr lang="en-US" sz="1050" dirty="0">
                <a:solidFill>
                  <a:srgbClr val="9AEC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ai_events </a:t>
            </a:r>
            <a:r>
              <a:rPr lang="en-US" sz="1050" dirty="0">
                <a:solidFill>
                  <a:srgbClr val="F3F2F8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happen only through the Edge Function's service role, so the client can't fabricate data.</a:t>
            </a:r>
            <a:endParaRPr lang="en-US" sz="1050" dirty="0"/>
          </a:p>
        </p:txBody>
      </p:sp>
      <p:sp>
        <p:nvSpPr>
          <p:cNvPr id="100" name="Shape 98"/>
          <p:cNvSpPr/>
          <p:nvPr/>
        </p:nvSpPr>
        <p:spPr>
          <a:xfrm>
            <a:off x="266700" y="29509045"/>
            <a:ext cx="7981950" cy="3136106"/>
          </a:xfrm>
          <a:prstGeom prst="roundRect">
            <a:avLst>
              <a:gd name="adj" fmla="val 4860"/>
            </a:avLst>
          </a:prstGeom>
          <a:solidFill>
            <a:srgbClr val="0C0C14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hape 99"/>
          <p:cNvSpPr/>
          <p:nvPr/>
        </p:nvSpPr>
        <p:spPr>
          <a:xfrm>
            <a:off x="276225" y="29518570"/>
            <a:ext cx="7962900" cy="35242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2" name="Shape 100"/>
          <p:cNvSpPr/>
          <p:nvPr/>
        </p:nvSpPr>
        <p:spPr>
          <a:xfrm>
            <a:off x="276225" y="29861470"/>
            <a:ext cx="79629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3" name="Shape 101"/>
          <p:cNvSpPr/>
          <p:nvPr/>
        </p:nvSpPr>
        <p:spPr>
          <a:xfrm>
            <a:off x="428625" y="29647158"/>
            <a:ext cx="85725" cy="85725"/>
          </a:xfrm>
          <a:prstGeom prst="ellipse">
            <a:avLst/>
          </a:prstGeom>
          <a:solidFill>
            <a:srgbClr val="E260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4" name="Shape 102"/>
          <p:cNvSpPr/>
          <p:nvPr/>
        </p:nvSpPr>
        <p:spPr>
          <a:xfrm>
            <a:off x="590550" y="29647158"/>
            <a:ext cx="85725" cy="85725"/>
          </a:xfrm>
          <a:prstGeom prst="ellipse">
            <a:avLst/>
          </a:prstGeom>
          <a:solidFill>
            <a:srgbClr val="F0B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5" name="Shape 103"/>
          <p:cNvSpPr/>
          <p:nvPr/>
        </p:nvSpPr>
        <p:spPr>
          <a:xfrm>
            <a:off x="752475" y="29647158"/>
            <a:ext cx="85725" cy="85725"/>
          </a:xfrm>
          <a:prstGeom prst="ellipse">
            <a:avLst/>
          </a:prstGeom>
          <a:solidFill>
            <a:srgbClr val="46D3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6" name="Text 104"/>
          <p:cNvSpPr/>
          <p:nvPr/>
        </p:nvSpPr>
        <p:spPr>
          <a:xfrm>
            <a:off x="990600" y="29623345"/>
            <a:ext cx="83061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3F2F8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0002_rls.sql</a:t>
            </a:r>
            <a:endParaRPr lang="en-US" sz="825" dirty="0"/>
          </a:p>
        </p:txBody>
      </p:sp>
      <p:sp>
        <p:nvSpPr>
          <p:cNvPr id="107" name="Text 105"/>
          <p:cNvSpPr/>
          <p:nvPr/>
        </p:nvSpPr>
        <p:spPr>
          <a:xfrm>
            <a:off x="485775" y="30080545"/>
            <a:ext cx="7782687" cy="238363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85000"/>
              </a:lnSpc>
              <a:buNone/>
            </a:pPr>
            <a:r>
              <a:rPr lang="en-US" sz="938" dirty="0">
                <a:solidFill>
                  <a:srgbClr val="C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 table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books, versions, ai_events, profiles </a:t>
            </a:r>
            <a:r>
              <a:rPr lang="en-US" sz="938" dirty="0">
                <a:solidFill>
                  <a:srgbClr val="C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enable row level security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r>
              <a:rPr lang="en-US" sz="938" dirty="0">
                <a:solidFill>
                  <a:srgbClr val="F3F2F8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everyone signed in can READ (demo is fully visible)</a:t>
            </a:r>
            <a:r>
              <a:rPr lang="en-US" sz="938" dirty="0">
                <a:solidFill>
                  <a:srgbClr val="C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policy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38" dirty="0">
                <a:solidFill>
                  <a:srgbClr val="F3F2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"read books"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38" dirty="0">
                <a:solidFill>
                  <a:srgbClr val="C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books     </a:t>
            </a:r>
            <a:r>
              <a:rPr lang="en-US" sz="938" dirty="0">
                <a:solidFill>
                  <a:srgbClr val="C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select to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authenticated </a:t>
            </a:r>
            <a:r>
              <a:rPr lang="en-US" sz="938" dirty="0">
                <a:solidFill>
                  <a:srgbClr val="C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r>
              <a:rPr lang="en-US" sz="938" dirty="0">
                <a:solidFill>
                  <a:srgbClr val="C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</a:t>
            </a:r>
            <a:r>
              <a:rPr lang="en-US" sz="938" dirty="0">
                <a:solidFill>
                  <a:srgbClr val="C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policy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38" dirty="0">
                <a:solidFill>
                  <a:srgbClr val="F3F2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"read versions"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38" dirty="0">
                <a:solidFill>
                  <a:srgbClr val="C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versions  </a:t>
            </a:r>
            <a:r>
              <a:rPr lang="en-US" sz="938" dirty="0">
                <a:solidFill>
                  <a:srgbClr val="C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select to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authenticated </a:t>
            </a:r>
            <a:r>
              <a:rPr lang="en-US" sz="938" dirty="0">
                <a:solidFill>
                  <a:srgbClr val="C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r>
              <a:rPr lang="en-US" sz="938" dirty="0">
                <a:solidFill>
                  <a:srgbClr val="C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</a:t>
            </a:r>
            <a:r>
              <a:rPr lang="en-US" sz="938" dirty="0">
                <a:solidFill>
                  <a:srgbClr val="C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policy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38" dirty="0">
                <a:solidFill>
                  <a:srgbClr val="F3F2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"read events"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938" dirty="0">
                <a:solidFill>
                  <a:srgbClr val="C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ai_events </a:t>
            </a:r>
            <a:r>
              <a:rPr lang="en-US" sz="938" dirty="0">
                <a:solidFill>
                  <a:srgbClr val="C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select to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authenticated </a:t>
            </a:r>
            <a:r>
              <a:rPr lang="en-US" sz="938" dirty="0">
                <a:solidFill>
                  <a:srgbClr val="C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r>
              <a:rPr lang="en-US" sz="938" dirty="0">
                <a:solidFill>
                  <a:srgbClr val="C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</a:t>
            </a:r>
            <a:r>
              <a:rPr lang="en-US" sz="938" dirty="0">
                <a:solidFill>
                  <a:srgbClr val="F3F2F8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profiles: a user sees &amp; edits only their own row</a:t>
            </a:r>
            <a:r>
              <a:rPr lang="en-US" sz="938" dirty="0">
                <a:solidFill>
                  <a:srgbClr val="C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policy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38" dirty="0">
                <a:solidFill>
                  <a:srgbClr val="F3F2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"own profile"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38" dirty="0">
                <a:solidFill>
                  <a:srgbClr val="C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profiles</a:t>
            </a:r>
            <a:endParaRPr lang="en-US" sz="938" dirty="0"/>
          </a:p>
          <a:p>
            <a:pPr marL="0" indent="0" algn="l">
              <a:lnSpc>
                <a:spcPct val="185000"/>
              </a:lnSpc>
              <a:buNone/>
            </a:pP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endParaRPr lang="en-US" sz="938" dirty="0"/>
          </a:p>
          <a:p>
            <a:pPr marL="0" indent="0" algn="l">
              <a:lnSpc>
                <a:spcPct val="185000"/>
              </a:lnSpc>
              <a:buNone/>
            </a:pPr>
            <a:r>
              <a:rPr lang="en-US" sz="938" dirty="0">
                <a:solidFill>
                  <a:srgbClr val="C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all to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authenticated </a:t>
            </a:r>
            <a:r>
              <a:rPr lang="en-US" sz="938" dirty="0">
                <a:solidFill>
                  <a:srgbClr val="C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(id = auth.uid()); </a:t>
            </a:r>
            <a:r>
              <a:rPr lang="en-US" sz="938" dirty="0">
                <a:solidFill>
                  <a:srgbClr val="F3F2F8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NO client insert/update policies on versions or ai_events.-- the Edge Function uses the service-role key, which bypasses RLS.</a:t>
            </a:r>
            <a:endParaRPr lang="en-US" sz="938" dirty="0"/>
          </a:p>
        </p:txBody>
      </p:sp>
      <p:sp>
        <p:nvSpPr>
          <p:cNvPr id="108" name="Text 106"/>
          <p:cNvSpPr/>
          <p:nvPr/>
        </p:nvSpPr>
        <p:spPr>
          <a:xfrm>
            <a:off x="266700" y="33178552"/>
            <a:ext cx="878014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88" kern="0" spc="158" dirty="0">
                <a:solidFill>
                  <a:srgbClr val="F3F2F8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THE CORE · generate-version</a:t>
            </a:r>
            <a:endParaRPr lang="en-US" sz="788" dirty="0"/>
          </a:p>
        </p:txBody>
      </p:sp>
      <p:sp>
        <p:nvSpPr>
          <p:cNvPr id="109" name="Text 107"/>
          <p:cNvSpPr/>
          <p:nvPr/>
        </p:nvSpPr>
        <p:spPr>
          <a:xfrm>
            <a:off x="266700" y="33407152"/>
            <a:ext cx="878014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kern="0" spc="-45" dirty="0">
                <a:solidFill>
                  <a:srgbClr val="F3F2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one function that has to be real</a:t>
            </a:r>
            <a:endParaRPr lang="en-US" sz="2250" dirty="0"/>
          </a:p>
        </p:txBody>
      </p:sp>
      <p:sp>
        <p:nvSpPr>
          <p:cNvPr id="110" name="Text 108"/>
          <p:cNvSpPr/>
          <p:nvPr/>
        </p:nvSpPr>
        <p:spPr>
          <a:xfrm>
            <a:off x="266700" y="33769102"/>
            <a:ext cx="667131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3F2F8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Deno Edge Function. Receives a book + transformation, calls Gemini server-side, streams text to the client, and persists the result. This is the feature the whole demo rests on.</a:t>
            </a:r>
            <a:endParaRPr lang="en-US" sz="1050" dirty="0"/>
          </a:p>
        </p:txBody>
      </p:sp>
      <p:sp>
        <p:nvSpPr>
          <p:cNvPr id="111" name="Text 109"/>
          <p:cNvSpPr/>
          <p:nvPr/>
        </p:nvSpPr>
        <p:spPr>
          <a:xfrm>
            <a:off x="266700" y="34321552"/>
            <a:ext cx="4306253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99" dirty="0">
                <a:solidFill>
                  <a:srgbClr val="F3F2F8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 / RESPONSE</a:t>
            </a:r>
            <a:endParaRPr lang="en-US" sz="825" dirty="0"/>
          </a:p>
        </p:txBody>
      </p:sp>
      <p:sp>
        <p:nvSpPr>
          <p:cNvPr id="112" name="Shape 110"/>
          <p:cNvSpPr/>
          <p:nvPr/>
        </p:nvSpPr>
        <p:spPr>
          <a:xfrm>
            <a:off x="266700" y="34569202"/>
            <a:ext cx="3914775" cy="1121866"/>
          </a:xfrm>
          <a:prstGeom prst="roundRect">
            <a:avLst>
              <a:gd name="adj" fmla="val 11886"/>
            </a:avLst>
          </a:prstGeom>
          <a:solidFill>
            <a:srgbClr val="0C0C14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Text 111"/>
          <p:cNvSpPr/>
          <p:nvPr/>
        </p:nvSpPr>
        <p:spPr>
          <a:xfrm>
            <a:off x="466725" y="34750177"/>
            <a:ext cx="3620167" cy="79801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80000"/>
              </a:lnSpc>
              <a:buNone/>
            </a:pPr>
            <a:r>
              <a:rPr lang="en-US" sz="900" dirty="0">
                <a:solidFill>
                  <a:srgbClr val="F3F2F8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/functions/v1/generate-versionAuthorization: Bearer &lt;user jwt&gt;</a:t>
            </a:r>
            <a:r>
              <a:rPr lang="en-US" sz="900" dirty="0">
                <a:solidFill>
                  <a:srgbClr val="F3F2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</a:t>
            </a:r>
            <a:r>
              <a:rPr lang="en-US" sz="900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00" dirty="0">
                <a:solidFill>
                  <a:srgbClr val="9AEC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"book_id"</a:t>
            </a:r>
            <a:r>
              <a:rPr lang="en-US" sz="900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900" dirty="0">
                <a:solidFill>
                  <a:srgbClr val="7F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"uuid" </a:t>
            </a:r>
            <a:r>
              <a:rPr lang="en-US" sz="900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00" dirty="0"/>
          </a:p>
          <a:p>
            <a:pPr marL="0" indent="0" algn="l">
              <a:lnSpc>
                <a:spcPct val="180000"/>
              </a:lnSpc>
              <a:buNone/>
            </a:pPr>
            <a:r>
              <a:rPr lang="en-US" sz="900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endParaRPr lang="en-US" sz="900" dirty="0"/>
          </a:p>
          <a:p>
            <a:pPr marL="0" indent="0" algn="l">
              <a:lnSpc>
                <a:spcPct val="180000"/>
              </a:lnSpc>
              <a:buNone/>
            </a:pPr>
            <a:r>
              <a:rPr lang="en-US" sz="900" dirty="0">
                <a:solidFill>
                  <a:srgbClr val="9AEC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"kind"</a:t>
            </a:r>
            <a:r>
              <a:rPr lang="en-US" sz="900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900" dirty="0">
                <a:solidFill>
                  <a:srgbClr val="7F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"children"</a:t>
            </a:r>
            <a:r>
              <a:rPr lang="en-US" sz="900" dirty="0">
                <a:solidFill>
                  <a:srgbClr val="F3F2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</a:t>
            </a:r>
            <a:r>
              <a:rPr lang="en-US" sz="900" dirty="0">
                <a:solidFill>
                  <a:srgbClr val="F3F2F8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200, text/event-stream  data: { token }   ·· streamed  data: { done, version_id }</a:t>
            </a:r>
            <a:endParaRPr lang="en-US" sz="900" dirty="0"/>
          </a:p>
        </p:txBody>
      </p:sp>
      <p:sp>
        <p:nvSpPr>
          <p:cNvPr id="114" name="Text 112"/>
          <p:cNvSpPr/>
          <p:nvPr/>
        </p:nvSpPr>
        <p:spPr>
          <a:xfrm>
            <a:off x="4333875" y="34321552"/>
            <a:ext cx="4306253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99" dirty="0">
                <a:solidFill>
                  <a:srgbClr val="F3F2F8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STEPS</a:t>
            </a:r>
            <a:endParaRPr lang="en-US" sz="825" dirty="0"/>
          </a:p>
        </p:txBody>
      </p:sp>
      <p:sp>
        <p:nvSpPr>
          <p:cNvPr id="115" name="Text 113"/>
          <p:cNvSpPr/>
          <p:nvPr/>
        </p:nvSpPr>
        <p:spPr>
          <a:xfrm>
            <a:off x="4333875" y="34569202"/>
            <a:ext cx="2286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6D6B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825" dirty="0"/>
          </a:p>
        </p:txBody>
      </p:sp>
      <p:sp>
        <p:nvSpPr>
          <p:cNvPr id="116" name="Text 114"/>
          <p:cNvSpPr/>
          <p:nvPr/>
        </p:nvSpPr>
        <p:spPr>
          <a:xfrm>
            <a:off x="4591050" y="34569202"/>
            <a:ext cx="3110344" cy="217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975" dirty="0">
                <a:solidFill>
                  <a:srgbClr val="F3F2F8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JWT, resolve </a:t>
            </a:r>
            <a:r>
              <a:rPr lang="en-US" sz="975" dirty="0">
                <a:solidFill>
                  <a:srgbClr val="9AEC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creator_id </a:t>
            </a:r>
            <a:r>
              <a:rPr lang="en-US" sz="975" dirty="0">
                <a:solidFill>
                  <a:srgbClr val="F3F2F8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the session.</a:t>
            </a:r>
            <a:endParaRPr lang="en-US" sz="975" dirty="0"/>
          </a:p>
        </p:txBody>
      </p:sp>
      <p:sp>
        <p:nvSpPr>
          <p:cNvPr id="117" name="Text 115"/>
          <p:cNvSpPr/>
          <p:nvPr/>
        </p:nvSpPr>
        <p:spPr>
          <a:xfrm>
            <a:off x="4333875" y="34834413"/>
            <a:ext cx="2286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A07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825" dirty="0"/>
          </a:p>
        </p:txBody>
      </p:sp>
      <p:sp>
        <p:nvSpPr>
          <p:cNvPr id="118" name="Text 116"/>
          <p:cNvSpPr/>
          <p:nvPr/>
        </p:nvSpPr>
        <p:spPr>
          <a:xfrm>
            <a:off x="4591050" y="34834413"/>
            <a:ext cx="3597712" cy="217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975" dirty="0">
                <a:solidFill>
                  <a:srgbClr val="F3F2F8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</a:t>
            </a:r>
            <a:r>
              <a:rPr lang="en-US" sz="975" dirty="0">
                <a:solidFill>
                  <a:srgbClr val="CBB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books.body</a:t>
            </a:r>
            <a:r>
              <a:rPr lang="en-US" sz="975" dirty="0">
                <a:solidFill>
                  <a:srgbClr val="F3F2F8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take a bounded excerpt (token budget).</a:t>
            </a:r>
            <a:endParaRPr lang="en-US" sz="975" dirty="0"/>
          </a:p>
        </p:txBody>
      </p:sp>
      <p:sp>
        <p:nvSpPr>
          <p:cNvPr id="119" name="Text 117"/>
          <p:cNvSpPr/>
          <p:nvPr/>
        </p:nvSpPr>
        <p:spPr>
          <a:xfrm>
            <a:off x="4333875" y="35099625"/>
            <a:ext cx="2286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56C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825" dirty="0"/>
          </a:p>
        </p:txBody>
      </p:sp>
      <p:sp>
        <p:nvSpPr>
          <p:cNvPr id="120" name="Text 118"/>
          <p:cNvSpPr/>
          <p:nvPr/>
        </p:nvSpPr>
        <p:spPr>
          <a:xfrm>
            <a:off x="4591050" y="35099625"/>
            <a:ext cx="3585761" cy="217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975" dirty="0">
                <a:solidFill>
                  <a:srgbClr val="F3F2F8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a </a:t>
            </a:r>
            <a:r>
              <a:rPr lang="en-US" sz="975" dirty="0">
                <a:solidFill>
                  <a:srgbClr val="AE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versions </a:t>
            </a:r>
            <a:r>
              <a:rPr lang="en-US" sz="975" dirty="0">
                <a:solidFill>
                  <a:srgbClr val="F3F2F8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row, </a:t>
            </a:r>
            <a:r>
              <a:rPr lang="en-US" sz="975" dirty="0">
                <a:solidFill>
                  <a:srgbClr val="AE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status='generating' </a:t>
            </a:r>
            <a:r>
              <a:rPr lang="en-US" sz="975" dirty="0">
                <a:solidFill>
                  <a:srgbClr val="F3F2F8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get id.</a:t>
            </a:r>
            <a:endParaRPr lang="en-US" sz="975" dirty="0"/>
          </a:p>
        </p:txBody>
      </p:sp>
      <p:sp>
        <p:nvSpPr>
          <p:cNvPr id="121" name="Text 119"/>
          <p:cNvSpPr/>
          <p:nvPr/>
        </p:nvSpPr>
        <p:spPr>
          <a:xfrm>
            <a:off x="4333875" y="35364837"/>
            <a:ext cx="2286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0B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825" dirty="0"/>
          </a:p>
        </p:txBody>
      </p:sp>
      <p:sp>
        <p:nvSpPr>
          <p:cNvPr id="122" name="Text 120"/>
          <p:cNvSpPr/>
          <p:nvPr/>
        </p:nvSpPr>
        <p:spPr>
          <a:xfrm>
            <a:off x="4591050" y="35364837"/>
            <a:ext cx="3773373" cy="217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975" dirty="0">
                <a:solidFill>
                  <a:srgbClr val="F3F2F8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Gemini with the prompt template; stream tokens to client.</a:t>
            </a:r>
            <a:endParaRPr lang="en-US" sz="975" dirty="0"/>
          </a:p>
        </p:txBody>
      </p:sp>
      <p:sp>
        <p:nvSpPr>
          <p:cNvPr id="123" name="Text 121"/>
          <p:cNvSpPr/>
          <p:nvPr/>
        </p:nvSpPr>
        <p:spPr>
          <a:xfrm>
            <a:off x="4333875" y="35630048"/>
            <a:ext cx="2286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46D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825" dirty="0"/>
          </a:p>
        </p:txBody>
      </p:sp>
      <p:sp>
        <p:nvSpPr>
          <p:cNvPr id="124" name="Text 122"/>
          <p:cNvSpPr/>
          <p:nvPr/>
        </p:nvSpPr>
        <p:spPr>
          <a:xfrm>
            <a:off x="4591050" y="35630048"/>
            <a:ext cx="3204314" cy="217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975" dirty="0">
                <a:solidFill>
                  <a:srgbClr val="F3F2F8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finish: update the row </a:t>
            </a:r>
            <a:r>
              <a:rPr lang="en-US" sz="975" dirty="0">
                <a:solidFill>
                  <a:srgbClr val="9AEC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 </a:t>
            </a:r>
            <a:r>
              <a:rPr lang="en-US" sz="975" dirty="0">
                <a:solidFill>
                  <a:srgbClr val="F3F2F8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r>
              <a:rPr lang="en-US" sz="975" dirty="0">
                <a:solidFill>
                  <a:srgbClr val="9AEC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status='ready'</a:t>
            </a:r>
            <a:r>
              <a:rPr lang="en-US" sz="975" dirty="0">
                <a:solidFill>
                  <a:srgbClr val="F3F2F8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975" dirty="0"/>
          </a:p>
        </p:txBody>
      </p:sp>
      <p:sp>
        <p:nvSpPr>
          <p:cNvPr id="125" name="Text 123"/>
          <p:cNvSpPr/>
          <p:nvPr/>
        </p:nvSpPr>
        <p:spPr>
          <a:xfrm>
            <a:off x="4333875" y="35895260"/>
            <a:ext cx="2286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7B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825" dirty="0"/>
          </a:p>
        </p:txBody>
      </p:sp>
      <p:sp>
        <p:nvSpPr>
          <p:cNvPr id="126" name="Text 124"/>
          <p:cNvSpPr/>
          <p:nvPr/>
        </p:nvSpPr>
        <p:spPr>
          <a:xfrm>
            <a:off x="4591050" y="35895260"/>
            <a:ext cx="3415829" cy="217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975" dirty="0">
                <a:solidFill>
                  <a:srgbClr val="F3F2F8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</a:t>
            </a:r>
            <a:r>
              <a:rPr lang="en-US" sz="975" dirty="0">
                <a:solidFill>
                  <a:srgbClr val="9AEC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ai_events </a:t>
            </a:r>
            <a:r>
              <a:rPr lang="en-US" sz="975" dirty="0">
                <a:solidFill>
                  <a:srgbClr val="F3F2F8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</a:t>
            </a:r>
            <a:r>
              <a:rPr lang="en-US" sz="975" dirty="0">
                <a:solidFill>
                  <a:srgbClr val="9AEC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latency_ms</a:t>
            </a:r>
            <a:r>
              <a:rPr lang="en-US" sz="975" dirty="0">
                <a:solidFill>
                  <a:srgbClr val="F3F2F8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Realtime fans out.</a:t>
            </a:r>
            <a:endParaRPr lang="en-US" sz="975" dirty="0"/>
          </a:p>
        </p:txBody>
      </p:sp>
      <p:sp>
        <p:nvSpPr>
          <p:cNvPr id="127" name="Shape 125"/>
          <p:cNvSpPr/>
          <p:nvPr/>
        </p:nvSpPr>
        <p:spPr>
          <a:xfrm>
            <a:off x="266700" y="36246197"/>
            <a:ext cx="7981950" cy="3290888"/>
          </a:xfrm>
          <a:prstGeom prst="roundRect">
            <a:avLst>
              <a:gd name="adj" fmla="val 4631"/>
            </a:avLst>
          </a:prstGeom>
          <a:solidFill>
            <a:srgbClr val="0C0C14"/>
          </a:solidFill>
          <a:ln w="9525">
            <a:solidFill>
              <a:srgbClr val="A07B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Shape 126"/>
          <p:cNvSpPr/>
          <p:nvPr/>
        </p:nvSpPr>
        <p:spPr>
          <a:xfrm>
            <a:off x="276225" y="36255722"/>
            <a:ext cx="7962900" cy="352425"/>
          </a:xfrm>
          <a:prstGeom prst="rect">
            <a:avLst/>
          </a:prstGeom>
          <a:solidFill>
            <a:srgbClr val="A07BFF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9" name="Shape 127"/>
          <p:cNvSpPr/>
          <p:nvPr/>
        </p:nvSpPr>
        <p:spPr>
          <a:xfrm>
            <a:off x="276225" y="36598622"/>
            <a:ext cx="79629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0" name="Shape 128"/>
          <p:cNvSpPr/>
          <p:nvPr/>
        </p:nvSpPr>
        <p:spPr>
          <a:xfrm>
            <a:off x="428625" y="36365259"/>
            <a:ext cx="123825" cy="123825"/>
          </a:xfrm>
          <a:prstGeom prst="roundRect">
            <a:avLst>
              <a:gd name="adj" fmla="val 30769"/>
            </a:avLst>
          </a:prstGeom>
          <a:gradFill rotWithShape="1">
            <a:gsLst>
              <a:gs pos="0">
                <a:srgbClr val="6D6BF6">
                  <a:alpha val="100000"/>
                </a:srgbClr>
              </a:gs>
              <a:gs pos="100000">
                <a:srgbClr val="56C5FF">
                  <a:alpha val="100000"/>
                </a:srgbClr>
              </a:gs>
            </a:gsLst>
            <a:lin ang="2700000" scaled="0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131" name="Text 129"/>
          <p:cNvSpPr/>
          <p:nvPr/>
        </p:nvSpPr>
        <p:spPr>
          <a:xfrm>
            <a:off x="628650" y="36360497"/>
            <a:ext cx="2489552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C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 template · per transformation</a:t>
            </a:r>
            <a:endParaRPr lang="en-US" sz="825" dirty="0"/>
          </a:p>
        </p:txBody>
      </p:sp>
      <p:sp>
        <p:nvSpPr>
          <p:cNvPr id="132" name="Text 130"/>
          <p:cNvSpPr/>
          <p:nvPr/>
        </p:nvSpPr>
        <p:spPr>
          <a:xfrm>
            <a:off x="485775" y="36817697"/>
            <a:ext cx="7782687" cy="253841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80000"/>
              </a:lnSpc>
              <a:buNone/>
            </a:pPr>
            <a:r>
              <a:rPr lang="en-US" sz="938" dirty="0">
                <a:solidFill>
                  <a:srgbClr val="C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PROMPTS = {</a:t>
            </a:r>
            <a:endParaRPr lang="en-US" sz="938" dirty="0"/>
          </a:p>
          <a:p>
            <a:pPr marL="0" indent="0" algn="l">
              <a:lnSpc>
                <a:spcPct val="180000"/>
              </a:lnSpc>
              <a:buNone/>
            </a:pP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children:     </a:t>
            </a:r>
            <a:endParaRPr lang="en-US" sz="938" dirty="0"/>
          </a:p>
          <a:p>
            <a:pPr marL="0" indent="0" algn="l">
              <a:lnSpc>
                <a:spcPct val="180000"/>
              </a:lnSpc>
              <a:buNone/>
            </a:pPr>
            <a:r>
              <a:rPr lang="en-US" sz="938" dirty="0">
                <a:solidFill>
                  <a:srgbClr val="F3F2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"Rewrite this excerpt as a gentle children's edition (ages 8+). Simple words, keep the heart of the story." 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38" dirty="0"/>
          </a:p>
          <a:p>
            <a:pPr marL="0" indent="0" algn="l">
              <a:lnSpc>
                <a:spcPct val="180000"/>
              </a:lnSpc>
              <a:buNone/>
            </a:pP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spanish:      </a:t>
            </a:r>
            <a:endParaRPr lang="en-US" sz="938" dirty="0"/>
          </a:p>
          <a:p>
            <a:pPr marL="0" indent="0" algn="l">
              <a:lnSpc>
                <a:spcPct val="180000"/>
              </a:lnSpc>
              <a:buNone/>
            </a:pPr>
            <a:r>
              <a:rPr lang="en-US" sz="938" dirty="0">
                <a:solidFill>
                  <a:srgbClr val="F3F2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"Translate this excerpt into natural literary Spanish, adapting idioms for tone." 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38" dirty="0"/>
          </a:p>
          <a:p>
            <a:pPr marL="0" indent="0" algn="l">
              <a:lnSpc>
                <a:spcPct val="180000"/>
              </a:lnSpc>
              <a:buNone/>
            </a:pP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educational:  </a:t>
            </a:r>
            <a:endParaRPr lang="en-US" sz="938" dirty="0"/>
          </a:p>
          <a:p>
            <a:pPr marL="0" indent="0" algn="l">
              <a:lnSpc>
                <a:spcPct val="180000"/>
              </a:lnSpc>
              <a:buNone/>
            </a:pPr>
            <a:r>
              <a:rPr lang="en-US" sz="938" dirty="0">
                <a:solidFill>
                  <a:srgbClr val="F3F2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"Produce a grade 9–12 study edition: the passage plus 3 discussion questions and key themes." 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38" dirty="0"/>
          </a:p>
          <a:p>
            <a:pPr marL="0" indent="0" algn="l">
              <a:lnSpc>
                <a:spcPct val="180000"/>
              </a:lnSpc>
              <a:buNone/>
            </a:pP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alternate_ending:  </a:t>
            </a:r>
            <a:endParaRPr lang="en-US" sz="938" dirty="0"/>
          </a:p>
          <a:p>
            <a:pPr marL="0" indent="0" algn="l">
              <a:lnSpc>
                <a:spcPct val="180000"/>
              </a:lnSpc>
              <a:buNone/>
            </a:pPr>
            <a:r>
              <a:rPr lang="en-US" sz="938" dirty="0">
                <a:solidFill>
                  <a:srgbClr val="F3F2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"Continue this excerpt with a compelling ALTERNATE ending that stays consistent with the characters." 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38" dirty="0"/>
          </a:p>
          <a:p>
            <a:pPr marL="0" indent="0" algn="l">
              <a:lnSpc>
                <a:spcPct val="180000"/>
              </a:lnSpc>
              <a:buNone/>
            </a:pP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 </a:t>
            </a:r>
            <a:endParaRPr lang="en-US" sz="938" dirty="0"/>
          </a:p>
          <a:p>
            <a:pPr marL="0" indent="0" algn="l">
              <a:lnSpc>
                <a:spcPct val="180000"/>
              </a:lnSpc>
              <a:buNone/>
            </a:pPr>
            <a:r>
              <a:rPr lang="en-US" sz="938" dirty="0">
                <a:solidFill>
                  <a:srgbClr val="C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prompt = </a:t>
            </a:r>
            <a:r>
              <a:rPr lang="en-US" sz="938" dirty="0">
                <a:solidFill>
                  <a:srgbClr val="F0B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`${PROMPTS[kind]}\n\n--- SOURCE ---\n${excerpt}`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r>
              <a:rPr lang="en-US" sz="938" dirty="0">
                <a:solidFill>
                  <a:srgbClr val="C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stream = </a:t>
            </a:r>
            <a:r>
              <a:rPr lang="en-US" sz="938" dirty="0">
                <a:solidFill>
                  <a:srgbClr val="C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genAI</a:t>
            </a:r>
            <a:endParaRPr lang="en-US" sz="938" dirty="0"/>
          </a:p>
          <a:p>
            <a:pPr marL="0" indent="0" algn="l">
              <a:lnSpc>
                <a:spcPct val="180000"/>
              </a:lnSpc>
              <a:buNone/>
            </a:pP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 </a:t>
            </a:r>
            <a:endParaRPr lang="en-US" sz="938" dirty="0"/>
          </a:p>
          <a:p>
            <a:pPr marL="0" indent="0" algn="l">
              <a:lnSpc>
                <a:spcPct val="180000"/>
              </a:lnSpc>
              <a:buNone/>
            </a:pPr>
            <a:r>
              <a:rPr lang="en-US" sz="938" dirty="0">
                <a:solidFill>
                  <a:srgbClr val="F0B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getGenerativeModel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model: </a:t>
            </a:r>
            <a:r>
              <a:rPr lang="en-US" sz="938" dirty="0">
                <a:solidFill>
                  <a:srgbClr val="F3F2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"gemini-2.5-flash" 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})</a:t>
            </a:r>
            <a:endParaRPr lang="en-US" sz="938" dirty="0"/>
          </a:p>
          <a:p>
            <a:pPr marL="0" indent="0" algn="l">
              <a:lnSpc>
                <a:spcPct val="180000"/>
              </a:lnSpc>
              <a:buNone/>
            </a:pP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 </a:t>
            </a:r>
            <a:endParaRPr lang="en-US" sz="938" dirty="0"/>
          </a:p>
          <a:p>
            <a:pPr marL="0" indent="0" algn="l">
              <a:lnSpc>
                <a:spcPct val="180000"/>
              </a:lnSpc>
              <a:buNone/>
            </a:pPr>
            <a:r>
              <a:rPr lang="en-US" sz="938" dirty="0">
                <a:solidFill>
                  <a:srgbClr val="F0B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generateContentStream</a:t>
            </a:r>
            <a:r>
              <a:rPr lang="en-US" sz="938" dirty="0">
                <a:solidFill>
                  <a:srgbClr val="F3F2F8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(prompt);</a:t>
            </a:r>
            <a:endParaRPr lang="en-US" sz="938" dirty="0"/>
          </a:p>
        </p:txBody>
      </p:sp>
      <p:sp>
        <p:nvSpPr>
          <p:cNvPr id="133" name="Shape 131"/>
          <p:cNvSpPr/>
          <p:nvPr/>
        </p:nvSpPr>
        <p:spPr>
          <a:xfrm>
            <a:off x="266700" y="39670434"/>
            <a:ext cx="7981950" cy="451247"/>
          </a:xfrm>
          <a:prstGeom prst="roundRect">
            <a:avLst>
              <a:gd name="adj" fmla="val 23219"/>
            </a:avLst>
          </a:prstGeom>
          <a:solidFill>
            <a:srgbClr val="56C5FF">
              <a:alpha val="6000"/>
            </a:srgbClr>
          </a:solidFill>
          <a:ln w="9525">
            <a:solidFill>
              <a:srgbClr val="56C5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4" name="Text 132"/>
          <p:cNvSpPr/>
          <p:nvPr/>
        </p:nvSpPr>
        <p:spPr>
          <a:xfrm>
            <a:off x="428625" y="39803784"/>
            <a:ext cx="7897559" cy="2226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938" dirty="0">
                <a:solidFill>
                  <a:srgbClr val="AE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GEMINI_API_KEY </a:t>
            </a:r>
            <a:r>
              <a:rPr lang="en-US" sz="938" dirty="0">
                <a:solidFill>
                  <a:srgbClr val="F3F2F8">
                    <a:alpha val="62000"/>
                  </a:srgbClr>
                </a:solidFill>
                <a:highlight>
                  <a:srgbClr val="F5FC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is set with </a:t>
            </a:r>
            <a:r>
              <a:rPr lang="en-US" sz="938" dirty="0">
                <a:solidFill>
                  <a:srgbClr val="9AEC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supabase secrets set </a:t>
            </a:r>
            <a:r>
              <a:rPr lang="en-US" sz="938" dirty="0">
                <a:solidFill>
                  <a:srgbClr val="F3F2F8">
                    <a:alpha val="62000"/>
                  </a:srgbClr>
                </a:solidFill>
                <a:highlight>
                  <a:srgbClr val="F5FC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and read via </a:t>
            </a:r>
            <a:r>
              <a:rPr lang="en-US" sz="938" dirty="0">
                <a:solidFill>
                  <a:srgbClr val="F3F2F8">
                    <a:alpha val="6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Deno.env </a:t>
            </a:r>
            <a:r>
              <a:rPr lang="en-US" sz="938" dirty="0">
                <a:solidFill>
                  <a:srgbClr val="F3F2F8">
                    <a:alpha val="62000"/>
                  </a:srgbClr>
                </a:solidFill>
                <a:highlight>
                  <a:srgbClr val="F5FC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— it is never bundled into the frontend.</a:t>
            </a:r>
            <a:endParaRPr lang="en-US" sz="938" dirty="0"/>
          </a:p>
        </p:txBody>
      </p:sp>
      <p:sp>
        <p:nvSpPr>
          <p:cNvPr id="135" name="Text 133"/>
          <p:cNvSpPr/>
          <p:nvPr/>
        </p:nvSpPr>
        <p:spPr>
          <a:xfrm>
            <a:off x="266700" y="40655081"/>
            <a:ext cx="878014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88" kern="0" spc="158" dirty="0">
                <a:solidFill>
                  <a:srgbClr val="F3F2F8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· FRONTEND MAP</a:t>
            </a:r>
            <a:endParaRPr lang="en-US" sz="788" dirty="0"/>
          </a:p>
        </p:txBody>
      </p:sp>
      <p:sp>
        <p:nvSpPr>
          <p:cNvPr id="136" name="Text 134"/>
          <p:cNvSpPr/>
          <p:nvPr/>
        </p:nvSpPr>
        <p:spPr>
          <a:xfrm>
            <a:off x="266700" y="40883681"/>
            <a:ext cx="878014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kern="0" spc="-45" dirty="0">
                <a:solidFill>
                  <a:srgbClr val="F3F2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routes, each bound to its rows</a:t>
            </a:r>
            <a:endParaRPr lang="en-US" sz="2250" dirty="0"/>
          </a:p>
        </p:txBody>
      </p:sp>
      <p:sp>
        <p:nvSpPr>
          <p:cNvPr id="137" name="Shape 135"/>
          <p:cNvSpPr/>
          <p:nvPr/>
        </p:nvSpPr>
        <p:spPr>
          <a:xfrm>
            <a:off x="266700" y="41378981"/>
            <a:ext cx="7981950" cy="466725"/>
          </a:xfrm>
          <a:prstGeom prst="roundRect">
            <a:avLst>
              <a:gd name="adj" fmla="val 2653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8" name="Text 136"/>
          <p:cNvSpPr/>
          <p:nvPr/>
        </p:nvSpPr>
        <p:spPr>
          <a:xfrm>
            <a:off x="466725" y="41531381"/>
            <a:ext cx="12192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38" dirty="0">
                <a:solidFill>
                  <a:srgbClr val="BCB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/login</a:t>
            </a:r>
            <a:endParaRPr lang="en-US" sz="938" dirty="0"/>
          </a:p>
        </p:txBody>
      </p:sp>
      <p:sp>
        <p:nvSpPr>
          <p:cNvPr id="139" name="Text 137"/>
          <p:cNvSpPr/>
          <p:nvPr/>
        </p:nvSpPr>
        <p:spPr>
          <a:xfrm>
            <a:off x="1762125" y="41531381"/>
            <a:ext cx="584841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F3F2F8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Magic-link sign-in; redirect to /library on session.</a:t>
            </a:r>
            <a:endParaRPr lang="en-US" sz="975" dirty="0"/>
          </a:p>
        </p:txBody>
      </p:sp>
      <p:sp>
        <p:nvSpPr>
          <p:cNvPr id="140" name="Text 138"/>
          <p:cNvSpPr/>
          <p:nvPr/>
        </p:nvSpPr>
        <p:spPr>
          <a:xfrm>
            <a:off x="7231261" y="41545669"/>
            <a:ext cx="89356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3F2F8">
                    <a:alpha val="4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supabase.auth</a:t>
            </a:r>
            <a:endParaRPr lang="en-US" sz="825" dirty="0"/>
          </a:p>
        </p:txBody>
      </p:sp>
      <p:sp>
        <p:nvSpPr>
          <p:cNvPr id="141" name="Shape 139"/>
          <p:cNvSpPr/>
          <p:nvPr/>
        </p:nvSpPr>
        <p:spPr>
          <a:xfrm>
            <a:off x="266700" y="41940956"/>
            <a:ext cx="7981950" cy="476250"/>
          </a:xfrm>
          <a:prstGeom prst="roundRect">
            <a:avLst>
              <a:gd name="adj" fmla="val 26000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2" name="Text 140"/>
          <p:cNvSpPr/>
          <p:nvPr/>
        </p:nvSpPr>
        <p:spPr>
          <a:xfrm>
            <a:off x="466725" y="42098119"/>
            <a:ext cx="12192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38" dirty="0">
                <a:solidFill>
                  <a:srgbClr val="BCB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/library</a:t>
            </a:r>
            <a:endParaRPr lang="en-US" sz="938" dirty="0"/>
          </a:p>
        </p:txBody>
      </p:sp>
      <p:sp>
        <p:nvSpPr>
          <p:cNvPr id="143" name="Text 141"/>
          <p:cNvSpPr/>
          <p:nvPr/>
        </p:nvSpPr>
        <p:spPr>
          <a:xfrm>
            <a:off x="1762125" y="42093356"/>
            <a:ext cx="591765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F3F2F8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Frankenstein card → reader view of </a:t>
            </a:r>
            <a:r>
              <a:rPr lang="en-US" sz="975" dirty="0">
                <a:solidFill>
                  <a:srgbClr val="CBB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books.body</a:t>
            </a:r>
            <a:r>
              <a:rPr lang="en-US" sz="975" dirty="0">
                <a:solidFill>
                  <a:srgbClr val="F3F2F8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975" dirty="0"/>
          </a:p>
        </p:txBody>
      </p:sp>
      <p:sp>
        <p:nvSpPr>
          <p:cNvPr id="144" name="Text 142"/>
          <p:cNvSpPr/>
          <p:nvPr/>
        </p:nvSpPr>
        <p:spPr>
          <a:xfrm>
            <a:off x="7294215" y="42112406"/>
            <a:ext cx="83061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3F2F8">
                    <a:alpha val="4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books</a:t>
            </a:r>
            <a:endParaRPr lang="en-US" sz="825" dirty="0"/>
          </a:p>
        </p:txBody>
      </p:sp>
      <p:sp>
        <p:nvSpPr>
          <p:cNvPr id="145" name="Shape 143"/>
          <p:cNvSpPr/>
          <p:nvPr/>
        </p:nvSpPr>
        <p:spPr>
          <a:xfrm>
            <a:off x="266700" y="42512456"/>
            <a:ext cx="7981950" cy="476250"/>
          </a:xfrm>
          <a:prstGeom prst="roundRect">
            <a:avLst>
              <a:gd name="adj" fmla="val 26000"/>
            </a:avLst>
          </a:prstGeom>
          <a:solidFill>
            <a:srgbClr val="A07BFF">
              <a:alpha val="5000"/>
            </a:srgbClr>
          </a:solidFill>
          <a:ln w="9525">
            <a:solidFill>
              <a:srgbClr val="A07B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6" name="Text 144"/>
          <p:cNvSpPr/>
          <p:nvPr/>
        </p:nvSpPr>
        <p:spPr>
          <a:xfrm>
            <a:off x="466725" y="42669619"/>
            <a:ext cx="12192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38" dirty="0">
                <a:solidFill>
                  <a:srgbClr val="CBB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/studio</a:t>
            </a:r>
            <a:endParaRPr lang="en-US" sz="938" dirty="0"/>
          </a:p>
        </p:txBody>
      </p:sp>
      <p:sp>
        <p:nvSpPr>
          <p:cNvPr id="147" name="Text 145"/>
          <p:cNvSpPr/>
          <p:nvPr/>
        </p:nvSpPr>
        <p:spPr>
          <a:xfrm>
            <a:off x="1762125" y="42664856"/>
            <a:ext cx="577932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F3F2F8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transformation → call </a:t>
            </a:r>
            <a:r>
              <a:rPr lang="en-US" sz="975" dirty="0">
                <a:solidFill>
                  <a:srgbClr val="F0B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generate-version</a:t>
            </a:r>
            <a:r>
              <a:rPr lang="en-US" sz="975" dirty="0">
                <a:solidFill>
                  <a:srgbClr val="F3F2F8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render the stream.</a:t>
            </a:r>
            <a:endParaRPr lang="en-US" sz="975" dirty="0"/>
          </a:p>
        </p:txBody>
      </p:sp>
      <p:sp>
        <p:nvSpPr>
          <p:cNvPr id="148" name="Text 146"/>
          <p:cNvSpPr/>
          <p:nvPr/>
        </p:nvSpPr>
        <p:spPr>
          <a:xfrm>
            <a:off x="7168455" y="42683906"/>
            <a:ext cx="95637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C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invoke edge fn</a:t>
            </a:r>
            <a:endParaRPr lang="en-US" sz="825" dirty="0"/>
          </a:p>
        </p:txBody>
      </p:sp>
      <p:sp>
        <p:nvSpPr>
          <p:cNvPr id="149" name="Shape 147"/>
          <p:cNvSpPr/>
          <p:nvPr/>
        </p:nvSpPr>
        <p:spPr>
          <a:xfrm>
            <a:off x="266700" y="43083956"/>
            <a:ext cx="7981950" cy="466725"/>
          </a:xfrm>
          <a:prstGeom prst="roundRect">
            <a:avLst>
              <a:gd name="adj" fmla="val 2653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0" name="Text 148"/>
          <p:cNvSpPr/>
          <p:nvPr/>
        </p:nvSpPr>
        <p:spPr>
          <a:xfrm>
            <a:off x="466725" y="43236356"/>
            <a:ext cx="12192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38" dirty="0">
                <a:solidFill>
                  <a:srgbClr val="BCB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/tree</a:t>
            </a:r>
            <a:endParaRPr lang="en-US" sz="938" dirty="0"/>
          </a:p>
        </p:txBody>
      </p:sp>
      <p:sp>
        <p:nvSpPr>
          <p:cNvPr id="151" name="Text 149"/>
          <p:cNvSpPr/>
          <p:nvPr/>
        </p:nvSpPr>
        <p:spPr>
          <a:xfrm>
            <a:off x="1762125" y="43236356"/>
            <a:ext cx="557190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F3F2F8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Constellation from </a:t>
            </a:r>
            <a:r>
              <a:rPr lang="en-US" sz="975" dirty="0">
                <a:solidFill>
                  <a:srgbClr val="AE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versions </a:t>
            </a:r>
            <a:r>
              <a:rPr lang="en-US" sz="975" dirty="0">
                <a:solidFill>
                  <a:srgbClr val="F3F2F8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book_id = Frankenstein.</a:t>
            </a:r>
            <a:endParaRPr lang="en-US" sz="975" dirty="0"/>
          </a:p>
        </p:txBody>
      </p:sp>
      <p:sp>
        <p:nvSpPr>
          <p:cNvPr id="152" name="Text 150"/>
          <p:cNvSpPr/>
          <p:nvPr/>
        </p:nvSpPr>
        <p:spPr>
          <a:xfrm>
            <a:off x="6979890" y="43250644"/>
            <a:ext cx="114493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7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+ realtime</a:t>
            </a:r>
            <a:endParaRPr lang="en-US" sz="825" dirty="0"/>
          </a:p>
        </p:txBody>
      </p:sp>
      <p:sp>
        <p:nvSpPr>
          <p:cNvPr id="153" name="Shape 151"/>
          <p:cNvSpPr/>
          <p:nvPr/>
        </p:nvSpPr>
        <p:spPr>
          <a:xfrm>
            <a:off x="266700" y="43645931"/>
            <a:ext cx="7981950" cy="466725"/>
          </a:xfrm>
          <a:prstGeom prst="roundRect">
            <a:avLst>
              <a:gd name="adj" fmla="val 2653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4" name="Text 152"/>
          <p:cNvSpPr/>
          <p:nvPr/>
        </p:nvSpPr>
        <p:spPr>
          <a:xfrm>
            <a:off x="466725" y="43798331"/>
            <a:ext cx="12192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38" dirty="0">
                <a:solidFill>
                  <a:srgbClr val="BCB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/ops</a:t>
            </a:r>
            <a:endParaRPr lang="en-US" sz="938" dirty="0"/>
          </a:p>
        </p:txBody>
      </p:sp>
      <p:sp>
        <p:nvSpPr>
          <p:cNvPr id="155" name="Text 153"/>
          <p:cNvSpPr/>
          <p:nvPr/>
        </p:nvSpPr>
        <p:spPr>
          <a:xfrm>
            <a:off x="1762125" y="43798331"/>
            <a:ext cx="557190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F3F2F8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activity log (</a:t>
            </a:r>
            <a:r>
              <a:rPr lang="en-US" sz="975" dirty="0">
                <a:solidFill>
                  <a:srgbClr val="9AEC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ai_events</a:t>
            </a:r>
            <a:r>
              <a:rPr lang="en-US" sz="975" dirty="0">
                <a:solidFill>
                  <a:srgbClr val="F3F2F8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+ four count() metrics, side by side.</a:t>
            </a:r>
            <a:endParaRPr lang="en-US" sz="975" dirty="0"/>
          </a:p>
        </p:txBody>
      </p:sp>
      <p:sp>
        <p:nvSpPr>
          <p:cNvPr id="156" name="Text 154"/>
          <p:cNvSpPr/>
          <p:nvPr/>
        </p:nvSpPr>
        <p:spPr>
          <a:xfrm>
            <a:off x="6979890" y="43812619"/>
            <a:ext cx="114493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7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+ realtime</a:t>
            </a:r>
            <a:endParaRPr lang="en-US" sz="825" dirty="0"/>
          </a:p>
        </p:txBody>
      </p:sp>
      <p:sp>
        <p:nvSpPr>
          <p:cNvPr id="157" name="Shape 155"/>
          <p:cNvSpPr/>
          <p:nvPr/>
        </p:nvSpPr>
        <p:spPr>
          <a:xfrm>
            <a:off x="266700" y="44265056"/>
            <a:ext cx="7981950" cy="681930"/>
          </a:xfrm>
          <a:prstGeom prst="roundRect">
            <a:avLst>
              <a:gd name="adj" fmla="val 1676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FFFFFF">
                <a:alpha val="7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8" name="Text 156"/>
          <p:cNvSpPr/>
          <p:nvPr/>
        </p:nvSpPr>
        <p:spPr>
          <a:xfrm>
            <a:off x="447675" y="44407931"/>
            <a:ext cx="7859458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975" dirty="0">
                <a:solidFill>
                  <a:srgbClr val="7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Realtime channels: </a:t>
            </a:r>
            <a:r>
              <a:rPr lang="en-US" sz="975" dirty="0">
                <a:solidFill>
                  <a:srgbClr val="F3F2F8">
                    <a:alpha val="60000"/>
                  </a:srgbClr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the /tree and /ops routes subscribe to </a:t>
            </a:r>
            <a:r>
              <a:rPr lang="en-US" sz="975" dirty="0">
                <a:solidFill>
                  <a:srgbClr val="AE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postgres_changes </a:t>
            </a:r>
            <a:r>
              <a:rPr lang="en-US" sz="975" dirty="0">
                <a:solidFill>
                  <a:srgbClr val="F3F2F8">
                    <a:alpha val="60000"/>
                  </a:srgbClr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on </a:t>
            </a:r>
            <a:r>
              <a:rPr lang="en-US" sz="975" dirty="0">
                <a:solidFill>
                  <a:srgbClr val="F3F2F8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versions </a:t>
            </a:r>
            <a:r>
              <a:rPr lang="en-US" sz="975" dirty="0">
                <a:solidFill>
                  <a:srgbClr val="F3F2F8">
                    <a:alpha val="60000"/>
                  </a:srgbClr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and </a:t>
            </a:r>
            <a:r>
              <a:rPr lang="en-US" sz="975" dirty="0">
                <a:solidFill>
                  <a:srgbClr val="F3F2F8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ai_events </a:t>
            </a:r>
            <a:r>
              <a:rPr lang="en-US" sz="975" dirty="0">
                <a:solidFill>
                  <a:srgbClr val="F3F2F8">
                    <a:alpha val="60000"/>
                  </a:srgbClr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. The moment the Edge Function inserts, every open view re-renders — no manual refetch, no polling.</a:t>
            </a:r>
            <a:endParaRPr lang="en-US" sz="975" dirty="0"/>
          </a:p>
        </p:txBody>
      </p:sp>
      <p:sp>
        <p:nvSpPr>
          <p:cNvPr id="159" name="Shape 157"/>
          <p:cNvSpPr/>
          <p:nvPr/>
        </p:nvSpPr>
        <p:spPr>
          <a:xfrm>
            <a:off x="266700" y="45480387"/>
            <a:ext cx="3905250" cy="2990850"/>
          </a:xfrm>
          <a:prstGeom prst="roundRect">
            <a:avLst>
              <a:gd name="adj" fmla="val 5732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0" name="Text 158"/>
          <p:cNvSpPr/>
          <p:nvPr/>
        </p:nvSpPr>
        <p:spPr>
          <a:xfrm>
            <a:off x="523875" y="45718512"/>
            <a:ext cx="372999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88" kern="0" spc="126" dirty="0">
                <a:solidFill>
                  <a:srgbClr val="F3F2F8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· METRICS · HONEST COUNTS</a:t>
            </a:r>
            <a:endParaRPr lang="en-US" sz="788" dirty="0"/>
          </a:p>
        </p:txBody>
      </p:sp>
      <p:sp>
        <p:nvSpPr>
          <p:cNvPr id="161" name="Text 159"/>
          <p:cNvSpPr/>
          <p:nvPr/>
        </p:nvSpPr>
        <p:spPr>
          <a:xfrm>
            <a:off x="523875" y="46004262"/>
            <a:ext cx="3492627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900" dirty="0">
                <a:solidFill>
                  <a:srgbClr val="F3F2F8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each card = one count, nothing faked</a:t>
            </a:r>
            <a:r>
              <a:rPr lang="en-US" sz="900" dirty="0">
                <a:solidFill>
                  <a:srgbClr val="C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count</a:t>
            </a:r>
            <a:r>
              <a:rPr lang="en-US" sz="900" dirty="0">
                <a:solidFill>
                  <a:srgbClr val="F3F2F8">
                    <a:alpha val="7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(*) </a:t>
            </a:r>
            <a:r>
              <a:rPr lang="en-US" sz="900" dirty="0">
                <a:solidFill>
                  <a:srgbClr val="C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900" dirty="0">
                <a:solidFill>
                  <a:srgbClr val="F3F2F8">
                    <a:alpha val="7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versions;   </a:t>
            </a:r>
            <a:r>
              <a:rPr lang="en-US" sz="900" dirty="0">
                <a:solidFill>
                  <a:srgbClr val="F3F2F8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versions created</a:t>
            </a:r>
            <a:r>
              <a:rPr lang="en-US" sz="900" dirty="0">
                <a:solidFill>
                  <a:srgbClr val="C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count</a:t>
            </a:r>
            <a:r>
              <a:rPr lang="en-US" sz="900" dirty="0">
                <a:solidFill>
                  <a:srgbClr val="F3F2F8">
                    <a:alpha val="7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(*) </a:t>
            </a:r>
            <a:r>
              <a:rPr lang="en-US" sz="900" dirty="0">
                <a:solidFill>
                  <a:srgbClr val="C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900" dirty="0">
                <a:solidFill>
                  <a:srgbClr val="F3F2F8">
                    <a:alpha val="7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ai_events;  </a:t>
            </a:r>
            <a:r>
              <a:rPr lang="en-US" sz="900" dirty="0">
                <a:solidFill>
                  <a:srgbClr val="F3F2F8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Gemini calls</a:t>
            </a:r>
            <a:r>
              <a:rPr lang="en-US" sz="900" dirty="0">
                <a:solidFill>
                  <a:srgbClr val="C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count</a:t>
            </a:r>
            <a:r>
              <a:rPr lang="en-US" sz="900" dirty="0">
                <a:solidFill>
                  <a:srgbClr val="F3F2F8">
                    <a:alpha val="7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(*) </a:t>
            </a:r>
            <a:r>
              <a:rPr lang="en-US" sz="900" dirty="0">
                <a:solidFill>
                  <a:srgbClr val="C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900" dirty="0">
                <a:solidFill>
                  <a:srgbClr val="F3F2F8">
                    <a:alpha val="7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profiles;   </a:t>
            </a:r>
            <a:r>
              <a:rPr lang="en-US" sz="900" dirty="0">
                <a:solidFill>
                  <a:srgbClr val="F3F2F8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signed-up users</a:t>
            </a:r>
            <a:r>
              <a:rPr lang="en-US" sz="900" dirty="0">
                <a:solidFill>
                  <a:srgbClr val="C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count</a:t>
            </a:r>
            <a:r>
              <a:rPr lang="en-US" sz="900" dirty="0">
                <a:solidFill>
                  <a:srgbClr val="F3F2F8">
                    <a:alpha val="7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(*) </a:t>
            </a:r>
            <a:r>
              <a:rPr lang="en-US" sz="900" dirty="0">
                <a:solidFill>
                  <a:srgbClr val="C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900" dirty="0">
                <a:solidFill>
                  <a:srgbClr val="F3F2F8">
                    <a:alpha val="7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books;      </a:t>
            </a:r>
            <a:r>
              <a:rPr lang="en-US" sz="900" dirty="0">
                <a:solidFill>
                  <a:srgbClr val="F3F2F8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books in catalog</a:t>
            </a:r>
            <a:endParaRPr lang="en-US" sz="900" dirty="0"/>
          </a:p>
        </p:txBody>
      </p:sp>
      <p:sp>
        <p:nvSpPr>
          <p:cNvPr id="162" name="Text 160"/>
          <p:cNvSpPr/>
          <p:nvPr/>
        </p:nvSpPr>
        <p:spPr>
          <a:xfrm>
            <a:off x="523875" y="46497627"/>
            <a:ext cx="3492627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938" dirty="0">
                <a:solidFill>
                  <a:srgbClr val="F3F2F8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Exposed as a Postgres </a:t>
            </a:r>
            <a:r>
              <a:rPr lang="en-US" sz="938" dirty="0">
                <a:solidFill>
                  <a:srgbClr val="9AEC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 </a:t>
            </a:r>
            <a:r>
              <a:rPr lang="en-US" sz="938" dirty="0">
                <a:solidFill>
                  <a:srgbClr val="F3F2F8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en-US" sz="938" dirty="0">
                <a:solidFill>
                  <a:srgbClr val="F3F2F8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mvp_metrics </a:t>
            </a:r>
            <a:r>
              <a:rPr lang="en-US" sz="938" dirty="0">
                <a:solidFill>
                  <a:srgbClr val="F3F2F8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so the client makes one read. Small, true numbers — that's the proof.</a:t>
            </a:r>
            <a:endParaRPr lang="en-US" sz="938" dirty="0"/>
          </a:p>
        </p:txBody>
      </p:sp>
      <p:sp>
        <p:nvSpPr>
          <p:cNvPr id="163" name="Shape 161"/>
          <p:cNvSpPr/>
          <p:nvPr/>
        </p:nvSpPr>
        <p:spPr>
          <a:xfrm>
            <a:off x="4343400" y="45480387"/>
            <a:ext cx="3905250" cy="2990850"/>
          </a:xfrm>
          <a:prstGeom prst="roundRect">
            <a:avLst>
              <a:gd name="adj" fmla="val 5732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4" name="Text 162"/>
          <p:cNvSpPr/>
          <p:nvPr/>
        </p:nvSpPr>
        <p:spPr>
          <a:xfrm>
            <a:off x="4600575" y="45718512"/>
            <a:ext cx="372999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88" kern="0" spc="126" dirty="0">
                <a:solidFill>
                  <a:srgbClr val="F3F2F8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SEED + SECRETS</a:t>
            </a:r>
            <a:endParaRPr lang="en-US" sz="788" dirty="0"/>
          </a:p>
        </p:txBody>
      </p:sp>
      <p:sp>
        <p:nvSpPr>
          <p:cNvPr id="165" name="Shape 163"/>
          <p:cNvSpPr/>
          <p:nvPr/>
        </p:nvSpPr>
        <p:spPr>
          <a:xfrm>
            <a:off x="4600575" y="46051887"/>
            <a:ext cx="76200" cy="76200"/>
          </a:xfrm>
          <a:prstGeom prst="roundRect">
            <a:avLst>
              <a:gd name="adj" fmla="val 25000"/>
            </a:avLst>
          </a:prstGeom>
          <a:solidFill>
            <a:srgbClr val="A07B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6" name="Text 164"/>
          <p:cNvSpPr/>
          <p:nvPr/>
        </p:nvSpPr>
        <p:spPr>
          <a:xfrm>
            <a:off x="4781550" y="46004262"/>
            <a:ext cx="3306223" cy="595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Frankenstein </a:t>
            </a:r>
            <a:r>
              <a:rPr lang="en-US" sz="975" dirty="0">
                <a:solidFill>
                  <a:srgbClr val="F3F2F8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one </a:t>
            </a:r>
            <a:r>
              <a:rPr lang="en-US" sz="975" dirty="0">
                <a:solidFill>
                  <a:srgbClr val="CBB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books </a:t>
            </a:r>
            <a:r>
              <a:rPr lang="en-US" sz="975" dirty="0">
                <a:solidFill>
                  <a:srgbClr val="F3F2F8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Project Gutenberg text (a few chapters) in </a:t>
            </a:r>
            <a:r>
              <a:rPr lang="en-US" sz="975" dirty="0">
                <a:solidFill>
                  <a:srgbClr val="F3F2F8">
                    <a:alpha val="6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0003_seed.sql</a:t>
            </a:r>
            <a:r>
              <a:rPr lang="en-US" sz="975" dirty="0">
                <a:solidFill>
                  <a:srgbClr val="F3F2F8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975" dirty="0"/>
          </a:p>
        </p:txBody>
      </p:sp>
      <p:sp>
        <p:nvSpPr>
          <p:cNvPr id="167" name="Shape 165"/>
          <p:cNvSpPr/>
          <p:nvPr/>
        </p:nvSpPr>
        <p:spPr>
          <a:xfrm>
            <a:off x="4600575" y="46732924"/>
            <a:ext cx="76200" cy="76200"/>
          </a:xfrm>
          <a:prstGeom prst="roundRect">
            <a:avLst>
              <a:gd name="adj" fmla="val 25000"/>
            </a:avLst>
          </a:prstGeom>
          <a:solidFill>
            <a:srgbClr val="56C5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8" name="Text 166"/>
          <p:cNvSpPr/>
          <p:nvPr/>
        </p:nvSpPr>
        <p:spPr>
          <a:xfrm>
            <a:off x="4781550" y="46685299"/>
            <a:ext cx="3306223" cy="595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node </a:t>
            </a:r>
            <a:r>
              <a:rPr lang="en-US" sz="975" dirty="0">
                <a:solidFill>
                  <a:srgbClr val="F3F2F8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the book itself is the tree root; versions hang off it via </a:t>
            </a:r>
            <a:r>
              <a:rPr lang="en-US" sz="975" dirty="0">
                <a:solidFill>
                  <a:srgbClr val="AE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parent_id = null </a:t>
            </a:r>
            <a:r>
              <a:rPr lang="en-US" sz="975" dirty="0">
                <a:solidFill>
                  <a:srgbClr val="F3F2F8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first-level branches.</a:t>
            </a:r>
            <a:endParaRPr lang="en-US" sz="975" dirty="0"/>
          </a:p>
        </p:txBody>
      </p:sp>
      <p:sp>
        <p:nvSpPr>
          <p:cNvPr id="169" name="Shape 167"/>
          <p:cNvSpPr/>
          <p:nvPr/>
        </p:nvSpPr>
        <p:spPr>
          <a:xfrm>
            <a:off x="4600575" y="47413962"/>
            <a:ext cx="76200" cy="76200"/>
          </a:xfrm>
          <a:prstGeom prst="roundRect">
            <a:avLst>
              <a:gd name="adj" fmla="val 25000"/>
            </a:avLst>
          </a:prstGeom>
          <a:solidFill>
            <a:srgbClr val="46D3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0" name="Text 168"/>
          <p:cNvSpPr/>
          <p:nvPr/>
        </p:nvSpPr>
        <p:spPr>
          <a:xfrm>
            <a:off x="4781550" y="47366337"/>
            <a:ext cx="330622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75" dirty="0">
                <a:solidFill>
                  <a:srgbClr val="9AEC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supabase secrets set GEMINI_API_KEY=… </a:t>
            </a:r>
            <a:r>
              <a:rPr lang="en-US" sz="975" dirty="0">
                <a:solidFill>
                  <a:srgbClr val="F3F2F8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the only secret the app needs.</a:t>
            </a:r>
            <a:endParaRPr lang="en-US" sz="975" dirty="0"/>
          </a:p>
        </p:txBody>
      </p:sp>
      <p:sp>
        <p:nvSpPr>
          <p:cNvPr id="171" name="Shape 169"/>
          <p:cNvSpPr/>
          <p:nvPr/>
        </p:nvSpPr>
        <p:spPr>
          <a:xfrm>
            <a:off x="4600575" y="47909262"/>
            <a:ext cx="76200" cy="76200"/>
          </a:xfrm>
          <a:prstGeom prst="roundRect">
            <a:avLst>
              <a:gd name="adj" fmla="val 25000"/>
            </a:avLst>
          </a:prstGeom>
          <a:solidFill>
            <a:srgbClr val="6D6B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2" name="Text 170"/>
          <p:cNvSpPr/>
          <p:nvPr/>
        </p:nvSpPr>
        <p:spPr>
          <a:xfrm>
            <a:off x="4781550" y="47861637"/>
            <a:ext cx="330622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75" dirty="0">
                <a:solidFill>
                  <a:srgbClr val="BCB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trigger </a:t>
            </a:r>
            <a:r>
              <a:rPr lang="en-US" sz="975" dirty="0">
                <a:solidFill>
                  <a:srgbClr val="F3F2F8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</a:t>
            </a:r>
            <a:r>
              <a:rPr lang="en-US" sz="975" dirty="0">
                <a:solidFill>
                  <a:srgbClr val="F3F2F8">
                    <a:alpha val="6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auth.users </a:t>
            </a:r>
            <a:r>
              <a:rPr lang="en-US" sz="975" dirty="0">
                <a:solidFill>
                  <a:srgbClr val="F3F2F8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auto-creates the matching </a:t>
            </a:r>
            <a:r>
              <a:rPr lang="en-US" sz="975" dirty="0">
                <a:solidFill>
                  <a:srgbClr val="9AEC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profiles </a:t>
            </a:r>
            <a:r>
              <a:rPr lang="en-US" sz="975" dirty="0">
                <a:solidFill>
                  <a:srgbClr val="F3F2F8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 on signup.</a:t>
            </a:r>
            <a:endParaRPr lang="en-US" sz="975" dirty="0"/>
          </a:p>
        </p:txBody>
      </p:sp>
      <p:sp>
        <p:nvSpPr>
          <p:cNvPr id="173" name="Text 171"/>
          <p:cNvSpPr/>
          <p:nvPr/>
        </p:nvSpPr>
        <p:spPr>
          <a:xfrm>
            <a:off x="266700" y="49004637"/>
            <a:ext cx="878014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88" kern="0" spc="158" dirty="0">
                <a:solidFill>
                  <a:srgbClr val="F3F2F8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· ACCEPTANCE</a:t>
            </a:r>
            <a:endParaRPr lang="en-US" sz="788" dirty="0"/>
          </a:p>
        </p:txBody>
      </p:sp>
      <p:sp>
        <p:nvSpPr>
          <p:cNvPr id="174" name="Text 172"/>
          <p:cNvSpPr/>
          <p:nvPr/>
        </p:nvSpPr>
        <p:spPr>
          <a:xfrm>
            <a:off x="266700" y="49233237"/>
            <a:ext cx="878014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kern="0" spc="-45" dirty="0">
                <a:solidFill>
                  <a:srgbClr val="F3F2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MVP is done when…</a:t>
            </a:r>
            <a:endParaRPr lang="en-US" sz="2250" dirty="0"/>
          </a:p>
        </p:txBody>
      </p:sp>
      <p:sp>
        <p:nvSpPr>
          <p:cNvPr id="175" name="Shape 173"/>
          <p:cNvSpPr/>
          <p:nvPr/>
        </p:nvSpPr>
        <p:spPr>
          <a:xfrm>
            <a:off x="266700" y="49728537"/>
            <a:ext cx="3933825" cy="709613"/>
          </a:xfrm>
          <a:prstGeom prst="roundRect">
            <a:avLst>
              <a:gd name="adj" fmla="val 17450"/>
            </a:avLst>
          </a:prstGeom>
          <a:solidFill>
            <a:srgbClr val="46D3A6">
              <a:alpha val="4000"/>
            </a:srgbClr>
          </a:solidFill>
          <a:ln w="9525">
            <a:solidFill>
              <a:srgbClr val="46D3A6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6" name="Text 174"/>
          <p:cNvSpPr/>
          <p:nvPr/>
        </p:nvSpPr>
        <p:spPr>
          <a:xfrm>
            <a:off x="447675" y="49890462"/>
            <a:ext cx="18335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7FE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25" dirty="0"/>
          </a:p>
        </p:txBody>
      </p:sp>
      <p:sp>
        <p:nvSpPr>
          <p:cNvPr id="177" name="Text 175"/>
          <p:cNvSpPr/>
          <p:nvPr/>
        </p:nvSpPr>
        <p:spPr>
          <a:xfrm>
            <a:off x="669131" y="49890462"/>
            <a:ext cx="3450931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13" dirty="0">
                <a:solidFill>
                  <a:srgbClr val="F3F2F8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 session persists across reload and gates every route.</a:t>
            </a:r>
            <a:endParaRPr lang="en-US" sz="1013" dirty="0"/>
          </a:p>
        </p:txBody>
      </p:sp>
      <p:sp>
        <p:nvSpPr>
          <p:cNvPr id="178" name="Shape 176"/>
          <p:cNvSpPr/>
          <p:nvPr/>
        </p:nvSpPr>
        <p:spPr>
          <a:xfrm>
            <a:off x="4314825" y="49728537"/>
            <a:ext cx="3933825" cy="709613"/>
          </a:xfrm>
          <a:prstGeom prst="roundRect">
            <a:avLst>
              <a:gd name="adj" fmla="val 17450"/>
            </a:avLst>
          </a:prstGeom>
          <a:solidFill>
            <a:srgbClr val="46D3A6">
              <a:alpha val="4000"/>
            </a:srgbClr>
          </a:solidFill>
          <a:ln w="9525">
            <a:solidFill>
              <a:srgbClr val="46D3A6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9" name="Text 177"/>
          <p:cNvSpPr/>
          <p:nvPr/>
        </p:nvSpPr>
        <p:spPr>
          <a:xfrm>
            <a:off x="4495800" y="49890462"/>
            <a:ext cx="18335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7FE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25" dirty="0"/>
          </a:p>
        </p:txBody>
      </p:sp>
      <p:sp>
        <p:nvSpPr>
          <p:cNvPr id="180" name="Text 178"/>
          <p:cNvSpPr/>
          <p:nvPr/>
        </p:nvSpPr>
        <p:spPr>
          <a:xfrm>
            <a:off x="4717256" y="49890462"/>
            <a:ext cx="3203332" cy="2309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13" dirty="0">
                <a:solidFill>
                  <a:srgbClr val="F3F2F8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Frankenstein opens, reading from the </a:t>
            </a:r>
            <a:r>
              <a:rPr lang="en-US" sz="1013" dirty="0">
                <a:solidFill>
                  <a:srgbClr val="CBB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books </a:t>
            </a:r>
            <a:r>
              <a:rPr lang="en-US" sz="1013" dirty="0">
                <a:solidFill>
                  <a:srgbClr val="F3F2F8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table.</a:t>
            </a:r>
            <a:endParaRPr lang="en-US" sz="1013" dirty="0"/>
          </a:p>
        </p:txBody>
      </p:sp>
      <p:sp>
        <p:nvSpPr>
          <p:cNvPr id="181" name="Shape 179"/>
          <p:cNvSpPr/>
          <p:nvPr/>
        </p:nvSpPr>
        <p:spPr>
          <a:xfrm>
            <a:off x="266700" y="50552449"/>
            <a:ext cx="3933825" cy="709613"/>
          </a:xfrm>
          <a:prstGeom prst="roundRect">
            <a:avLst>
              <a:gd name="adj" fmla="val 17450"/>
            </a:avLst>
          </a:prstGeom>
          <a:solidFill>
            <a:srgbClr val="A07BFF">
              <a:alpha val="5000"/>
            </a:srgbClr>
          </a:solidFill>
          <a:ln w="9525">
            <a:solidFill>
              <a:srgbClr val="A07B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2" name="Text 180"/>
          <p:cNvSpPr/>
          <p:nvPr/>
        </p:nvSpPr>
        <p:spPr>
          <a:xfrm>
            <a:off x="447675" y="50714374"/>
            <a:ext cx="18335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C9B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25" dirty="0"/>
          </a:p>
        </p:txBody>
      </p:sp>
      <p:sp>
        <p:nvSpPr>
          <p:cNvPr id="183" name="Text 181"/>
          <p:cNvSpPr/>
          <p:nvPr/>
        </p:nvSpPr>
        <p:spPr>
          <a:xfrm>
            <a:off x="669131" y="50714374"/>
            <a:ext cx="3450931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13" dirty="0">
                <a:solidFill>
                  <a:srgbClr val="F3F2F8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Choosing a transformation triggers a </a:t>
            </a:r>
            <a:r>
              <a:rPr lang="en-US" sz="101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Gemini call </a:t>
            </a:r>
            <a:r>
              <a:rPr lang="en-US" sz="1013" dirty="0">
                <a:solidFill>
                  <a:srgbClr val="F3F2F8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whose text is persisted.</a:t>
            </a:r>
            <a:endParaRPr lang="en-US" sz="1013" dirty="0"/>
          </a:p>
        </p:txBody>
      </p:sp>
      <p:sp>
        <p:nvSpPr>
          <p:cNvPr id="184" name="Shape 182"/>
          <p:cNvSpPr/>
          <p:nvPr/>
        </p:nvSpPr>
        <p:spPr>
          <a:xfrm>
            <a:off x="4314825" y="50552449"/>
            <a:ext cx="3933825" cy="709613"/>
          </a:xfrm>
          <a:prstGeom prst="roundRect">
            <a:avLst>
              <a:gd name="adj" fmla="val 17450"/>
            </a:avLst>
          </a:prstGeom>
          <a:solidFill>
            <a:srgbClr val="F0B24A">
              <a:alpha val="4000"/>
            </a:srgbClr>
          </a:solidFill>
          <a:ln w="9525">
            <a:solidFill>
              <a:srgbClr val="F0B24A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5" name="Text 183"/>
          <p:cNvSpPr/>
          <p:nvPr/>
        </p:nvSpPr>
        <p:spPr>
          <a:xfrm>
            <a:off x="4495800" y="50714374"/>
            <a:ext cx="18335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F5C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25" dirty="0"/>
          </a:p>
        </p:txBody>
      </p:sp>
      <p:sp>
        <p:nvSpPr>
          <p:cNvPr id="186" name="Text 184"/>
          <p:cNvSpPr/>
          <p:nvPr/>
        </p:nvSpPr>
        <p:spPr>
          <a:xfrm>
            <a:off x="4717256" y="50714374"/>
            <a:ext cx="3450931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13" dirty="0">
                <a:solidFill>
                  <a:srgbClr val="F3F2F8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new branch appears in the tree and opens to its generated text.</a:t>
            </a:r>
            <a:endParaRPr lang="en-US" sz="1013" dirty="0"/>
          </a:p>
        </p:txBody>
      </p:sp>
      <p:sp>
        <p:nvSpPr>
          <p:cNvPr id="187" name="Shape 185"/>
          <p:cNvSpPr/>
          <p:nvPr/>
        </p:nvSpPr>
        <p:spPr>
          <a:xfrm>
            <a:off x="266700" y="51376362"/>
            <a:ext cx="3933825" cy="709613"/>
          </a:xfrm>
          <a:prstGeom prst="roundRect">
            <a:avLst>
              <a:gd name="adj" fmla="val 17450"/>
            </a:avLst>
          </a:prstGeom>
          <a:solidFill>
            <a:srgbClr val="46D3A6">
              <a:alpha val="4000"/>
            </a:srgbClr>
          </a:solidFill>
          <a:ln w="9525">
            <a:solidFill>
              <a:srgbClr val="46D3A6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8" name="Text 186"/>
          <p:cNvSpPr/>
          <p:nvPr/>
        </p:nvSpPr>
        <p:spPr>
          <a:xfrm>
            <a:off x="447675" y="51538287"/>
            <a:ext cx="18335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7FE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25" dirty="0"/>
          </a:p>
        </p:txBody>
      </p:sp>
      <p:sp>
        <p:nvSpPr>
          <p:cNvPr id="189" name="Text 187"/>
          <p:cNvSpPr/>
          <p:nvPr/>
        </p:nvSpPr>
        <p:spPr>
          <a:xfrm>
            <a:off x="669131" y="51538287"/>
            <a:ext cx="3450931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13" dirty="0">
                <a:solidFill>
                  <a:srgbClr val="F3F2F8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generation writes one </a:t>
            </a:r>
            <a:r>
              <a:rPr lang="en-US" sz="1013" dirty="0">
                <a:solidFill>
                  <a:srgbClr val="9AEC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ai_events </a:t>
            </a:r>
            <a:r>
              <a:rPr lang="en-US" sz="1013" dirty="0">
                <a:solidFill>
                  <a:srgbClr val="F3F2F8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row, visible in the log within a second.</a:t>
            </a:r>
            <a:endParaRPr lang="en-US" sz="1013" dirty="0"/>
          </a:p>
        </p:txBody>
      </p:sp>
      <p:sp>
        <p:nvSpPr>
          <p:cNvPr id="190" name="Shape 188"/>
          <p:cNvSpPr/>
          <p:nvPr/>
        </p:nvSpPr>
        <p:spPr>
          <a:xfrm>
            <a:off x="4314825" y="51376362"/>
            <a:ext cx="3933825" cy="709613"/>
          </a:xfrm>
          <a:prstGeom prst="roundRect">
            <a:avLst>
              <a:gd name="adj" fmla="val 17450"/>
            </a:avLst>
          </a:prstGeom>
          <a:solidFill>
            <a:srgbClr val="56C5FF">
              <a:alpha val="4000"/>
            </a:srgbClr>
          </a:solidFill>
          <a:ln w="9525">
            <a:solidFill>
              <a:srgbClr val="56C5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1" name="Text 189"/>
          <p:cNvSpPr/>
          <p:nvPr/>
        </p:nvSpPr>
        <p:spPr>
          <a:xfrm>
            <a:off x="4495800" y="51538287"/>
            <a:ext cx="18335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AEE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25" dirty="0"/>
          </a:p>
        </p:txBody>
      </p:sp>
      <p:sp>
        <p:nvSpPr>
          <p:cNvPr id="192" name="Text 190"/>
          <p:cNvSpPr/>
          <p:nvPr/>
        </p:nvSpPr>
        <p:spPr>
          <a:xfrm>
            <a:off x="4717256" y="51538287"/>
            <a:ext cx="3450931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13" dirty="0">
                <a:solidFill>
                  <a:srgbClr val="F3F2F8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metric equals a row count you can verify directly in the DB.</a:t>
            </a:r>
            <a:endParaRPr lang="en-US" sz="1013" dirty="0"/>
          </a:p>
        </p:txBody>
      </p:sp>
      <p:sp>
        <p:nvSpPr>
          <p:cNvPr id="193" name="Shape 191"/>
          <p:cNvSpPr/>
          <p:nvPr/>
        </p:nvSpPr>
        <p:spPr>
          <a:xfrm>
            <a:off x="266700" y="52524124"/>
            <a:ext cx="798195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4" name="Text 192"/>
          <p:cNvSpPr/>
          <p:nvPr/>
        </p:nvSpPr>
        <p:spPr>
          <a:xfrm>
            <a:off x="266700" y="52743199"/>
            <a:ext cx="822140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F3F2F8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byDebut · technical plan &amp; schema — frozen MVP, 7 features. Companion to the MVP scope plan.</a:t>
            </a:r>
            <a:endParaRPr lang="en-US" sz="9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1776</Words>
  <Application>Microsoft Office PowerPoint</Application>
  <PresentationFormat>Custom</PresentationFormat>
  <Paragraphs>198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Courier New</vt:lpstr>
      <vt:lpstr>Georgia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Ivan Padron</cp:lastModifiedBy>
  <cp:revision>1</cp:revision>
  <dcterms:created xsi:type="dcterms:W3CDTF">2026-06-19T18:30:37Z</dcterms:created>
  <dcterms:modified xsi:type="dcterms:W3CDTF">2026-06-19T18:35:16Z</dcterms:modified>
</cp:coreProperties>
</file>